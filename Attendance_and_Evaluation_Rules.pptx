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Weightage</c:v>
                </c:pt>
              </c:strCache>
            </c:strRef>
          </c:tx>
          <c:spPr>
            <a:solidFill>
              <a:schemeClr val="accent1"/>
            </a:solidFill>
            <a:ln w="9525" cap="flat">
              <a:solidFill>
                <a:srgbClr val="F9F9F9"/>
              </a:solidFill>
              <a:prstDash val="solid"/>
              <a:round/>
            </a:ln>
            <a:effectLst/>
          </c:spPr>
          <c:dPt>
            <c:idx val="0"/>
            <c:bubble3D val="0"/>
            <c:spPr>
              <a:solidFill>
                <a:srgbClr val="9BBF8A"/>
              </a:solidFill>
              <a:ln w="38100" cap="flat">
                <a:solidFill>
                  <a:srgbClr val="FFFFFF"/>
                </a:solidFill>
                <a:prstDash val="solid"/>
                <a:round/>
              </a:ln>
              <a:effectLst/>
            </c:spPr>
          </c:dPt>
          <c:dPt>
            <c:idx val="1"/>
            <c:bubble3D val="0"/>
            <c:spPr>
              <a:solidFill>
                <a:srgbClr val="2F7A47"/>
              </a:solidFill>
              <a:ln w="38100" cap="flat">
                <a:solidFill>
                  <a:srgbClr val="FFFFFF"/>
                </a:solidFill>
                <a:prstDash val="solid"/>
                <a:round/>
              </a:ln>
              <a:effectLst/>
            </c:spPr>
          </c:dPt>
          <c:dPt>
            <c:idx val="2"/>
            <c:bubble3D val="0"/>
            <c:spPr>
              <a:solidFill>
                <a:srgbClr val="1F4D2E"/>
              </a:solidFill>
              <a:ln w="381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Sessional activities</c:v>
                </c:pt>
                <c:pt idx="1">
                  <c:v>Mid term exam</c:v>
                </c:pt>
                <c:pt idx="2">
                  <c:v>Final term exam</c:v>
                </c:pt>
              </c:strCache>
            </c:strRef>
          </c:cat>
          <c:val>
            <c:numRef>
              <c:f>Sheet1!$B$2:$B$4</c:f>
              <c:numCache>
                <c:ptCount val="3"/>
                <c:pt idx="0">
                  <c:v>25</c:v>
                </c:pt>
                <c:pt idx="1">
                  <c:v>35</c:v>
                </c:pt>
                <c:pt idx="2">
                  <c:v>40</c:v>
                </c:pt>
              </c:numCache>
            </c:numRef>
          </c:val>
        </c:ser>
        <c:firstSliceAng val="0"/>
        <c:holeSize val="5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explains two things every student must know: how much attendance is required, and how students are marked and graded. All rules are taken from the University of the Punjab Semester Rules and Regulations for Undergraduate Studies, effective Fall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quick map of the talk before going into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of the regulations deals with class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Attendance is per course. A student may have 90% in one subject and 60% in another - the 60% subject is still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2nd semester onwards, availing the full 25% absence in a course leads to an FW grade in that low-attendance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5% is not automatic. The student must request it, the HoD must approve it, and a fine is payable.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Sportspersons need verification from the Director of Sports and prior approval of the Chairman, Director or Principal. They must still sit the mid and final exams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applies when the student is absent from ALL classes of ALL courses for two consecutive weeks without approved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send the attendance statement to the HoD at the end of every month, and the cumulative record is displayed on the notice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how students are tested, marked and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compulsory to appear in both the mid term and the final term, and to complete the sessional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 grade is a pass, but it may still need to be repeated if the CGPA falls below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Exams are held on consecutive days excluding holidays.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 are kept for three months after the result is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must also have the required attendance to be allowed a special examination. The special exam is held within two weeks of the regular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fraction of a mark is rounded up to the next whole mark: 64.1 or 64.9 both become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two probations, a student who still cannot reach a 2.00 CGPA is dropped from the rolls.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reminding students that these rules protect them as much as they bind them - knowing them prevents most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D2E"/>
        </a:solidFill>
      </p:bgPr>
    </p:bg>
    <p:spTree>
      <p:nvGrpSpPr>
        <p:cNvPr id="1" name=""/>
        <p:cNvGrpSpPr/>
        <p:nvPr/>
      </p:nvGrpSpPr>
      <p:grpSpPr>
        <a:xfrm>
          <a:off x="0" y="0"/>
          <a:ext cx="0" cy="0"/>
          <a:chOff x="0" y="0"/>
          <a:chExt cx="0" cy="0"/>
        </a:xfrm>
      </p:grpSpPr>
      <p:sp>
        <p:nvSpPr>
          <p:cNvPr id="2" name="Text 0"/>
          <p:cNvSpPr txBox="1"/>
          <p:nvPr/>
        </p:nvSpPr>
        <p:spPr>
          <a:xfrm>
            <a:off x="502920" y="960120"/>
            <a:ext cx="8138160" cy="274320"/>
          </a:xfrm>
          <a:prstGeom prst="rect">
            <a:avLst/>
          </a:prstGeom>
          <a:noFill/>
          <a:ln/>
        </p:spPr>
        <p:txBody>
          <a:bodyPr wrap="square" lIns="0" tIns="0" rIns="0" bIns="0" rtlCol="0" anchor="ctr"/>
          <a:lstStyle/>
          <a:p>
            <a:pPr indent="0" marL="0">
              <a:buNone/>
            </a:pPr>
            <a:r>
              <a:rPr lang="en-US" sz="1400" b="1" spc="300" kern="0" dirty="0">
                <a:solidFill>
                  <a:srgbClr val="E0A526"/>
                </a:solidFill>
                <a:latin typeface="Calibri" pitchFamily="34" charset="0"/>
                <a:ea typeface="Calibri" pitchFamily="34" charset="-122"/>
                <a:cs typeface="Calibri" pitchFamily="34" charset="-120"/>
              </a:rPr>
              <a:t>UNIVERSITY OF THE PUNJAB</a:t>
            </a:r>
            <a:endParaRPr lang="en-US" sz="1400" dirty="0"/>
          </a:p>
        </p:txBody>
      </p:sp>
      <p:sp>
        <p:nvSpPr>
          <p:cNvPr id="3" name="Text 1"/>
          <p:cNvSpPr txBox="1"/>
          <p:nvPr/>
        </p:nvSpPr>
        <p:spPr>
          <a:xfrm>
            <a:off x="502920" y="1371600"/>
            <a:ext cx="6035040" cy="1371600"/>
          </a:xfrm>
          <a:prstGeom prst="rect">
            <a:avLst/>
          </a:prstGeom>
          <a:noFill/>
          <a:ln/>
        </p:spPr>
        <p:txBody>
          <a:bodyPr wrap="square" lIns="0" tIns="0" rIns="0" bIns="0" rtlCol="0" anchor="t"/>
          <a:lstStyle/>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Attendance &amp; Evaluation Rules</a:t>
            </a:r>
            <a:endParaRPr lang="en-US" sz="4400" dirty="0"/>
          </a:p>
        </p:txBody>
      </p:sp>
      <p:sp>
        <p:nvSpPr>
          <p:cNvPr id="4" name="Text 2"/>
          <p:cNvSpPr txBox="1"/>
          <p:nvPr/>
        </p:nvSpPr>
        <p:spPr>
          <a:xfrm>
            <a:off x="502920" y="2834640"/>
            <a:ext cx="5577840" cy="731520"/>
          </a:xfrm>
          <a:prstGeom prst="rect">
            <a:avLst/>
          </a:prstGeom>
          <a:noFill/>
          <a:ln/>
        </p:spPr>
        <p:txBody>
          <a:bodyPr wrap="square" lIns="0" tIns="0" rIns="0" bIns="0" rtlCol="0" anchor="ctr"/>
          <a:lstStyle/>
          <a:p>
            <a:pPr indent="0" marL="0">
              <a:lnSpc>
                <a:spcPct val="130000"/>
              </a:lnSpc>
              <a:buNone/>
            </a:pPr>
            <a:r>
              <a:rPr lang="en-US" sz="1400" dirty="0">
                <a:solidFill>
                  <a:srgbClr val="9BBF8A"/>
                </a:solidFill>
                <a:latin typeface="Calibri" pitchFamily="34" charset="0"/>
                <a:ea typeface="Calibri" pitchFamily="34" charset="-122"/>
                <a:cs typeface="Calibri" pitchFamily="34" charset="-120"/>
              </a:rPr>
              <a:t>Semester Rules and Regulations for Undergraduate Studies</a:t>
            </a:r>
            <a:endParaRPr lang="en-US" sz="1400" dirty="0"/>
          </a:p>
          <a:p>
            <a:pPr indent="0" marL="0">
              <a:lnSpc>
                <a:spcPct val="130000"/>
              </a:lnSpc>
              <a:buNone/>
            </a:pPr>
            <a:r>
              <a:rPr lang="en-US" sz="1400" dirty="0">
                <a:solidFill>
                  <a:srgbClr val="9BBF8A"/>
                </a:solidFill>
                <a:latin typeface="Calibri" pitchFamily="34" charset="0"/>
                <a:ea typeface="Calibri" pitchFamily="34" charset="-122"/>
                <a:cs typeface="Calibri" pitchFamily="34" charset="-120"/>
              </a:rPr>
              <a:t>Approved 27-07-2023  •  Applicable from Fall 2023</a:t>
            </a:r>
            <a:endParaRPr lang="en-US" sz="1400" dirty="0"/>
          </a:p>
        </p:txBody>
      </p:sp>
      <p:sp>
        <p:nvSpPr>
          <p:cNvPr id="5" name="Shape 3"/>
          <p:cNvSpPr/>
          <p:nvPr/>
        </p:nvSpPr>
        <p:spPr>
          <a:xfrm>
            <a:off x="6903720" y="1417320"/>
            <a:ext cx="1280160" cy="1280160"/>
          </a:xfrm>
          <a:prstGeom prst="ellipse">
            <a:avLst/>
          </a:prstGeom>
          <a:solidFill>
            <a:srgbClr val="E0A526"/>
          </a:solidFill>
          <a:ln w="12700">
            <a:solidFill>
              <a:srgbClr val="E0A526"/>
            </a:solidFill>
            <a:prstDash val="solid"/>
          </a:ln>
        </p:spPr>
      </p:sp>
      <p:sp>
        <p:nvSpPr>
          <p:cNvPr id="6" name="Text 4"/>
          <p:cNvSpPr txBox="1"/>
          <p:nvPr/>
        </p:nvSpPr>
        <p:spPr>
          <a:xfrm>
            <a:off x="6903720" y="1417320"/>
            <a:ext cx="1280160" cy="1280160"/>
          </a:xfrm>
          <a:prstGeom prst="rect">
            <a:avLst/>
          </a:prstGeom>
          <a:noFill/>
          <a:ln/>
        </p:spPr>
        <p:txBody>
          <a:bodyPr wrap="square" lIns="0" tIns="0" rIns="0" bIns="0" rtlCol="0" anchor="ctr"/>
          <a:lstStyle/>
          <a:p>
            <a:pPr algn="ctr" indent="0" marL="0">
              <a:buNone/>
            </a:pPr>
            <a:r>
              <a:rPr lang="en-US" sz="2500" b="1" dirty="0">
                <a:solidFill>
                  <a:srgbClr val="1F4D2E"/>
                </a:solidFill>
                <a:latin typeface="Cambria" pitchFamily="34" charset="0"/>
                <a:ea typeface="Cambria" pitchFamily="34" charset="-122"/>
                <a:cs typeface="Cambria" pitchFamily="34" charset="-120"/>
              </a:rPr>
              <a:t>75%</a:t>
            </a:r>
            <a:endParaRPr lang="en-US" sz="2500" dirty="0"/>
          </a:p>
        </p:txBody>
      </p:sp>
      <p:sp>
        <p:nvSpPr>
          <p:cNvPr id="7" name="Text 5"/>
          <p:cNvSpPr txBox="1"/>
          <p:nvPr/>
        </p:nvSpPr>
        <p:spPr>
          <a:xfrm>
            <a:off x="6309360" y="2761488"/>
            <a:ext cx="2468880" cy="256032"/>
          </a:xfrm>
          <a:prstGeom prst="rect">
            <a:avLst/>
          </a:prstGeom>
          <a:noFill/>
          <a:ln/>
        </p:spPr>
        <p:txBody>
          <a:bodyPr wrap="square" lIns="0" tIns="0" rIns="0" bIns="0" rtlCol="0" anchor="ctr"/>
          <a:lstStyle/>
          <a:p>
            <a:pPr algn="ctr" indent="0" marL="0">
              <a:buNone/>
            </a:pPr>
            <a:r>
              <a:rPr lang="en-US" sz="1100" dirty="0">
                <a:solidFill>
                  <a:srgbClr val="9BBF8A"/>
                </a:solidFill>
                <a:latin typeface="Calibri" pitchFamily="34" charset="0"/>
                <a:ea typeface="Calibri" pitchFamily="34" charset="-122"/>
                <a:cs typeface="Calibri" pitchFamily="34" charset="-120"/>
              </a:rPr>
              <a:t>minimum attendance</a:t>
            </a:r>
            <a:endParaRPr lang="en-US" sz="1100" dirty="0"/>
          </a:p>
        </p:txBody>
      </p:sp>
      <p:sp>
        <p:nvSpPr>
          <p:cNvPr id="8" name="Shape 6"/>
          <p:cNvSpPr/>
          <p:nvPr/>
        </p:nvSpPr>
        <p:spPr>
          <a:xfrm>
            <a:off x="7132320" y="3154680"/>
            <a:ext cx="822960" cy="822960"/>
          </a:xfrm>
          <a:prstGeom prst="ellipse">
            <a:avLst/>
          </a:prstGeom>
          <a:solidFill>
            <a:srgbClr val="2F7A47"/>
          </a:solidFill>
          <a:ln w="12700">
            <a:solidFill>
              <a:srgbClr val="2F7A47"/>
            </a:solidFill>
            <a:prstDash val="solid"/>
          </a:ln>
        </p:spPr>
      </p:sp>
      <p:sp>
        <p:nvSpPr>
          <p:cNvPr id="9" name="Text 7"/>
          <p:cNvSpPr txBox="1"/>
          <p:nvPr/>
        </p:nvSpPr>
        <p:spPr>
          <a:xfrm>
            <a:off x="7132320" y="315468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50%</a:t>
            </a:r>
            <a:endParaRPr lang="en-US" sz="1600" dirty="0"/>
          </a:p>
        </p:txBody>
      </p:sp>
      <p:sp>
        <p:nvSpPr>
          <p:cNvPr id="10" name="Text 8"/>
          <p:cNvSpPr txBox="1"/>
          <p:nvPr/>
        </p:nvSpPr>
        <p:spPr>
          <a:xfrm>
            <a:off x="6309360" y="4041648"/>
            <a:ext cx="2468880" cy="256032"/>
          </a:xfrm>
          <a:prstGeom prst="rect">
            <a:avLst/>
          </a:prstGeom>
          <a:noFill/>
          <a:ln/>
        </p:spPr>
        <p:txBody>
          <a:bodyPr wrap="square" lIns="0" tIns="0" rIns="0" bIns="0" rtlCol="0" anchor="ctr"/>
          <a:lstStyle/>
          <a:p>
            <a:pPr algn="ctr" indent="0" marL="0">
              <a:buNone/>
            </a:pPr>
            <a:r>
              <a:rPr lang="en-US" sz="1100" dirty="0">
                <a:solidFill>
                  <a:srgbClr val="9BBF8A"/>
                </a:solidFill>
                <a:latin typeface="Calibri" pitchFamily="34" charset="0"/>
                <a:ea typeface="Calibri" pitchFamily="34" charset="-122"/>
                <a:cs typeface="Calibri" pitchFamily="34" charset="-120"/>
              </a:rPr>
              <a:t>marks needed to pass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What this presentation covers</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Two topics, explained in simple steps</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02920" y="1371600"/>
            <a:ext cx="3886200" cy="1417320"/>
          </a:xfrm>
          <a:prstGeom prst="roundRect">
            <a:avLst>
              <a:gd name="adj" fmla="val 5806"/>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6" name="Shape 4"/>
          <p:cNvSpPr/>
          <p:nvPr/>
        </p:nvSpPr>
        <p:spPr>
          <a:xfrm>
            <a:off x="758952" y="1627632"/>
            <a:ext cx="475488" cy="475488"/>
          </a:xfrm>
          <a:prstGeom prst="ellipse">
            <a:avLst/>
          </a:prstGeom>
          <a:solidFill>
            <a:srgbClr val="1F4D2E"/>
          </a:solidFill>
          <a:ln w="12700">
            <a:solidFill>
              <a:srgbClr val="1F4D2E"/>
            </a:solidFill>
            <a:prstDash val="solid"/>
          </a:ln>
        </p:spPr>
      </p:sp>
      <p:sp>
        <p:nvSpPr>
          <p:cNvPr id="7" name="Text 5"/>
          <p:cNvSpPr txBox="1"/>
          <p:nvPr/>
        </p:nvSpPr>
        <p:spPr>
          <a:xfrm>
            <a:off x="758952" y="16276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txBox="1"/>
          <p:nvPr/>
        </p:nvSpPr>
        <p:spPr>
          <a:xfrm>
            <a:off x="1371600" y="1627632"/>
            <a:ext cx="2743200" cy="329184"/>
          </a:xfrm>
          <a:prstGeom prst="rect">
            <a:avLst/>
          </a:prstGeom>
          <a:noFill/>
          <a:ln/>
        </p:spPr>
        <p:txBody>
          <a:bodyPr wrap="square" lIns="0" tIns="0" rIns="0" bIns="0" rtlCol="0" anchor="ctr"/>
          <a:lstStyle/>
          <a:p>
            <a:pPr indent="0" marL="0">
              <a:buNone/>
            </a:pPr>
            <a:r>
              <a:rPr lang="en-US" sz="1700" b="1" dirty="0">
                <a:solidFill>
                  <a:srgbClr val="1F4D2E"/>
                </a:solidFill>
                <a:latin typeface="Cambria" pitchFamily="34" charset="0"/>
                <a:ea typeface="Cambria" pitchFamily="34" charset="-122"/>
                <a:cs typeface="Cambria" pitchFamily="34" charset="-120"/>
              </a:rPr>
              <a:t>Attendance rules</a:t>
            </a:r>
            <a:endParaRPr lang="en-US" sz="1700" dirty="0"/>
          </a:p>
        </p:txBody>
      </p:sp>
      <p:sp>
        <p:nvSpPr>
          <p:cNvPr id="9" name="Text 7"/>
          <p:cNvSpPr txBox="1"/>
          <p:nvPr/>
        </p:nvSpPr>
        <p:spPr>
          <a:xfrm>
            <a:off x="1371600" y="2011680"/>
            <a:ext cx="2743200" cy="621792"/>
          </a:xfrm>
          <a:prstGeom prst="rect">
            <a:avLst/>
          </a:prstGeom>
          <a:noFill/>
          <a:ln/>
        </p:spPr>
        <p:txBody>
          <a:bodyPr wrap="square" lIns="0" tIns="0" rIns="0" bIns="0" rtlCol="0" anchor="t"/>
          <a:lstStyle/>
          <a:p>
            <a:pPr indent="0" marL="0">
              <a:lnSpc>
                <a:spcPct val="115000"/>
              </a:lnSpc>
              <a:buNone/>
            </a:pPr>
            <a:r>
              <a:rPr lang="en-US" sz="1300" dirty="0">
                <a:solidFill>
                  <a:srgbClr val="5F6F66"/>
                </a:solidFill>
                <a:latin typeface="Calibri" pitchFamily="34" charset="0"/>
                <a:ea typeface="Calibri" pitchFamily="34" charset="-122"/>
                <a:cs typeface="Calibri" pitchFamily="34" charset="-120"/>
              </a:rPr>
              <a:t>How many classes you must attend, and what happens if you miss too many.</a:t>
            </a:r>
            <a:endParaRPr lang="en-US" sz="1300" dirty="0"/>
          </a:p>
        </p:txBody>
      </p:sp>
      <p:sp>
        <p:nvSpPr>
          <p:cNvPr id="10" name="Shape 8"/>
          <p:cNvSpPr/>
          <p:nvPr/>
        </p:nvSpPr>
        <p:spPr>
          <a:xfrm>
            <a:off x="4754880" y="1371600"/>
            <a:ext cx="3886200" cy="1417320"/>
          </a:xfrm>
          <a:prstGeom prst="roundRect">
            <a:avLst>
              <a:gd name="adj" fmla="val 5806"/>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1" name="Shape 9"/>
          <p:cNvSpPr/>
          <p:nvPr/>
        </p:nvSpPr>
        <p:spPr>
          <a:xfrm>
            <a:off x="5010912" y="1627632"/>
            <a:ext cx="475488" cy="475488"/>
          </a:xfrm>
          <a:prstGeom prst="ellipse">
            <a:avLst/>
          </a:prstGeom>
          <a:solidFill>
            <a:srgbClr val="1F4D2E"/>
          </a:solidFill>
          <a:ln w="12700">
            <a:solidFill>
              <a:srgbClr val="1F4D2E"/>
            </a:solidFill>
            <a:prstDash val="solid"/>
          </a:ln>
        </p:spPr>
      </p:sp>
      <p:sp>
        <p:nvSpPr>
          <p:cNvPr id="12" name="Text 10"/>
          <p:cNvSpPr txBox="1"/>
          <p:nvPr/>
        </p:nvSpPr>
        <p:spPr>
          <a:xfrm>
            <a:off x="5010912" y="16276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5623560" y="1627632"/>
            <a:ext cx="2743200" cy="329184"/>
          </a:xfrm>
          <a:prstGeom prst="rect">
            <a:avLst/>
          </a:prstGeom>
          <a:noFill/>
          <a:ln/>
        </p:spPr>
        <p:txBody>
          <a:bodyPr wrap="square" lIns="0" tIns="0" rIns="0" bIns="0" rtlCol="0" anchor="ctr"/>
          <a:lstStyle/>
          <a:p>
            <a:pPr indent="0" marL="0">
              <a:buNone/>
            </a:pPr>
            <a:r>
              <a:rPr lang="en-US" sz="1700" b="1" dirty="0">
                <a:solidFill>
                  <a:srgbClr val="1F4D2E"/>
                </a:solidFill>
                <a:latin typeface="Cambria" pitchFamily="34" charset="0"/>
                <a:ea typeface="Cambria" pitchFamily="34" charset="-122"/>
                <a:cs typeface="Cambria" pitchFamily="34" charset="-120"/>
              </a:rPr>
              <a:t>Absence &amp; penalties</a:t>
            </a:r>
            <a:endParaRPr lang="en-US" sz="1700" dirty="0"/>
          </a:p>
        </p:txBody>
      </p:sp>
      <p:sp>
        <p:nvSpPr>
          <p:cNvPr id="14" name="Text 12"/>
          <p:cNvSpPr txBox="1"/>
          <p:nvPr/>
        </p:nvSpPr>
        <p:spPr>
          <a:xfrm>
            <a:off x="5623560" y="2011680"/>
            <a:ext cx="2743200" cy="621792"/>
          </a:xfrm>
          <a:prstGeom prst="rect">
            <a:avLst/>
          </a:prstGeom>
          <a:noFill/>
          <a:ln/>
        </p:spPr>
        <p:txBody>
          <a:bodyPr wrap="square" lIns="0" tIns="0" rIns="0" bIns="0" rtlCol="0" anchor="t"/>
          <a:lstStyle/>
          <a:p>
            <a:pPr indent="0" marL="0">
              <a:lnSpc>
                <a:spcPct val="115000"/>
              </a:lnSpc>
              <a:buNone/>
            </a:pPr>
            <a:r>
              <a:rPr lang="en-US" sz="1300" dirty="0">
                <a:solidFill>
                  <a:srgbClr val="5F6F66"/>
                </a:solidFill>
                <a:latin typeface="Calibri" pitchFamily="34" charset="0"/>
                <a:ea typeface="Calibri" pitchFamily="34" charset="-122"/>
                <a:cs typeface="Calibri" pitchFamily="34" charset="-120"/>
              </a:rPr>
              <a:t>The 25% allowance, the FW grade, fines and special cases.</a:t>
            </a:r>
            <a:endParaRPr lang="en-US" sz="1300" dirty="0"/>
          </a:p>
        </p:txBody>
      </p:sp>
      <p:sp>
        <p:nvSpPr>
          <p:cNvPr id="15" name="Shape 13"/>
          <p:cNvSpPr/>
          <p:nvPr/>
        </p:nvSpPr>
        <p:spPr>
          <a:xfrm>
            <a:off x="502920" y="3081528"/>
            <a:ext cx="3886200" cy="1417320"/>
          </a:xfrm>
          <a:prstGeom prst="roundRect">
            <a:avLst>
              <a:gd name="adj" fmla="val 5806"/>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6" name="Shape 14"/>
          <p:cNvSpPr/>
          <p:nvPr/>
        </p:nvSpPr>
        <p:spPr>
          <a:xfrm>
            <a:off x="758952" y="3337560"/>
            <a:ext cx="475488" cy="475488"/>
          </a:xfrm>
          <a:prstGeom prst="ellipse">
            <a:avLst/>
          </a:prstGeom>
          <a:solidFill>
            <a:srgbClr val="1F4D2E"/>
          </a:solidFill>
          <a:ln w="12700">
            <a:solidFill>
              <a:srgbClr val="1F4D2E"/>
            </a:solidFill>
            <a:prstDash val="solid"/>
          </a:ln>
        </p:spPr>
      </p:sp>
      <p:sp>
        <p:nvSpPr>
          <p:cNvPr id="17" name="Text 15"/>
          <p:cNvSpPr txBox="1"/>
          <p:nvPr/>
        </p:nvSpPr>
        <p:spPr>
          <a:xfrm>
            <a:off x="758952" y="33375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1371600" y="3337560"/>
            <a:ext cx="2743200" cy="329184"/>
          </a:xfrm>
          <a:prstGeom prst="rect">
            <a:avLst/>
          </a:prstGeom>
          <a:noFill/>
          <a:ln/>
        </p:spPr>
        <p:txBody>
          <a:bodyPr wrap="square" lIns="0" tIns="0" rIns="0" bIns="0" rtlCol="0" anchor="ctr"/>
          <a:lstStyle/>
          <a:p>
            <a:pPr indent="0" marL="0">
              <a:buNone/>
            </a:pPr>
            <a:r>
              <a:rPr lang="en-US" sz="1700" b="1" dirty="0">
                <a:solidFill>
                  <a:srgbClr val="1F4D2E"/>
                </a:solidFill>
                <a:latin typeface="Cambria" pitchFamily="34" charset="0"/>
                <a:ea typeface="Cambria" pitchFamily="34" charset="-122"/>
                <a:cs typeface="Cambria" pitchFamily="34" charset="-120"/>
              </a:rPr>
              <a:t>Marks division</a:t>
            </a:r>
            <a:endParaRPr lang="en-US" sz="1700" dirty="0"/>
          </a:p>
        </p:txBody>
      </p:sp>
      <p:sp>
        <p:nvSpPr>
          <p:cNvPr id="19" name="Text 17"/>
          <p:cNvSpPr txBox="1"/>
          <p:nvPr/>
        </p:nvSpPr>
        <p:spPr>
          <a:xfrm>
            <a:off x="1371600" y="3721608"/>
            <a:ext cx="2743200" cy="621792"/>
          </a:xfrm>
          <a:prstGeom prst="rect">
            <a:avLst/>
          </a:prstGeom>
          <a:noFill/>
          <a:ln/>
        </p:spPr>
        <p:txBody>
          <a:bodyPr wrap="square" lIns="0" tIns="0" rIns="0" bIns="0" rtlCol="0" anchor="t"/>
          <a:lstStyle/>
          <a:p>
            <a:pPr indent="0" marL="0">
              <a:lnSpc>
                <a:spcPct val="115000"/>
              </a:lnSpc>
              <a:buNone/>
            </a:pPr>
            <a:r>
              <a:rPr lang="en-US" sz="1300" dirty="0">
                <a:solidFill>
                  <a:srgbClr val="5F6F66"/>
                </a:solidFill>
                <a:latin typeface="Calibri" pitchFamily="34" charset="0"/>
                <a:ea typeface="Calibri" pitchFamily="34" charset="-122"/>
                <a:cs typeface="Calibri" pitchFamily="34" charset="-120"/>
              </a:rPr>
              <a:t>Sessional work, mid term and final term weightage.</a:t>
            </a:r>
            <a:endParaRPr lang="en-US" sz="1300" dirty="0"/>
          </a:p>
        </p:txBody>
      </p:sp>
      <p:sp>
        <p:nvSpPr>
          <p:cNvPr id="20" name="Shape 18"/>
          <p:cNvSpPr/>
          <p:nvPr/>
        </p:nvSpPr>
        <p:spPr>
          <a:xfrm>
            <a:off x="4754880" y="3081528"/>
            <a:ext cx="3886200" cy="1417320"/>
          </a:xfrm>
          <a:prstGeom prst="roundRect">
            <a:avLst>
              <a:gd name="adj" fmla="val 5806"/>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21" name="Shape 19"/>
          <p:cNvSpPr/>
          <p:nvPr/>
        </p:nvSpPr>
        <p:spPr>
          <a:xfrm>
            <a:off x="5010912" y="3337560"/>
            <a:ext cx="475488" cy="475488"/>
          </a:xfrm>
          <a:prstGeom prst="ellipse">
            <a:avLst/>
          </a:prstGeom>
          <a:solidFill>
            <a:srgbClr val="1F4D2E"/>
          </a:solidFill>
          <a:ln w="12700">
            <a:solidFill>
              <a:srgbClr val="1F4D2E"/>
            </a:solidFill>
            <a:prstDash val="solid"/>
          </a:ln>
        </p:spPr>
      </p:sp>
      <p:sp>
        <p:nvSpPr>
          <p:cNvPr id="22" name="Text 20"/>
          <p:cNvSpPr txBox="1"/>
          <p:nvPr/>
        </p:nvSpPr>
        <p:spPr>
          <a:xfrm>
            <a:off x="5010912" y="33375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txBox="1"/>
          <p:nvPr/>
        </p:nvSpPr>
        <p:spPr>
          <a:xfrm>
            <a:off x="5623560" y="3337560"/>
            <a:ext cx="2743200" cy="329184"/>
          </a:xfrm>
          <a:prstGeom prst="rect">
            <a:avLst/>
          </a:prstGeom>
          <a:noFill/>
          <a:ln/>
        </p:spPr>
        <p:txBody>
          <a:bodyPr wrap="square" lIns="0" tIns="0" rIns="0" bIns="0" rtlCol="0" anchor="ctr"/>
          <a:lstStyle/>
          <a:p>
            <a:pPr indent="0" marL="0">
              <a:buNone/>
            </a:pPr>
            <a:r>
              <a:rPr lang="en-US" sz="1700" b="1" dirty="0">
                <a:solidFill>
                  <a:srgbClr val="1F4D2E"/>
                </a:solidFill>
                <a:latin typeface="Cambria" pitchFamily="34" charset="0"/>
                <a:ea typeface="Cambria" pitchFamily="34" charset="-122"/>
                <a:cs typeface="Cambria" pitchFamily="34" charset="-120"/>
              </a:rPr>
              <a:t>Grades &amp; promotion</a:t>
            </a:r>
            <a:endParaRPr lang="en-US" sz="1700" dirty="0"/>
          </a:p>
        </p:txBody>
      </p:sp>
      <p:sp>
        <p:nvSpPr>
          <p:cNvPr id="24" name="Text 22"/>
          <p:cNvSpPr txBox="1"/>
          <p:nvPr/>
        </p:nvSpPr>
        <p:spPr>
          <a:xfrm>
            <a:off x="5623560" y="3721608"/>
            <a:ext cx="2743200" cy="621792"/>
          </a:xfrm>
          <a:prstGeom prst="rect">
            <a:avLst/>
          </a:prstGeom>
          <a:noFill/>
          <a:ln/>
        </p:spPr>
        <p:txBody>
          <a:bodyPr wrap="square" lIns="0" tIns="0" rIns="0" bIns="0" rtlCol="0" anchor="t"/>
          <a:lstStyle/>
          <a:p>
            <a:pPr indent="0" marL="0">
              <a:lnSpc>
                <a:spcPct val="115000"/>
              </a:lnSpc>
              <a:buNone/>
            </a:pPr>
            <a:r>
              <a:rPr lang="en-US" sz="1300" dirty="0">
                <a:solidFill>
                  <a:srgbClr val="5F6F66"/>
                </a:solidFill>
                <a:latin typeface="Calibri" pitchFamily="34" charset="0"/>
                <a:ea typeface="Calibri" pitchFamily="34" charset="-122"/>
                <a:cs typeface="Calibri" pitchFamily="34" charset="-120"/>
              </a:rPr>
              <a:t>Grade table, GPA, probation and passing your degree.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4D2E"/>
        </a:solidFill>
      </p:bgPr>
    </p:bg>
    <p:spTree>
      <p:nvGrpSpPr>
        <p:cNvPr id="1" name=""/>
        <p:cNvGrpSpPr/>
        <p:nvPr/>
      </p:nvGrpSpPr>
      <p:grpSpPr>
        <a:xfrm>
          <a:off x="0" y="0"/>
          <a:ext cx="0" cy="0"/>
          <a:chOff x="0" y="0"/>
          <a:chExt cx="0" cy="0"/>
        </a:xfrm>
      </p:grpSpPr>
      <p:sp>
        <p:nvSpPr>
          <p:cNvPr id="2" name="Text 0"/>
          <p:cNvSpPr txBox="1"/>
          <p:nvPr/>
        </p:nvSpPr>
        <p:spPr>
          <a:xfrm>
            <a:off x="502920" y="1417320"/>
            <a:ext cx="8138160" cy="310896"/>
          </a:xfrm>
          <a:prstGeom prst="rect">
            <a:avLst/>
          </a:prstGeom>
          <a:noFill/>
          <a:ln/>
        </p:spPr>
        <p:txBody>
          <a:bodyPr wrap="square" lIns="0" tIns="0" rIns="0" bIns="0" rtlCol="0" anchor="ctr"/>
          <a:lstStyle/>
          <a:p>
            <a:pPr indent="0" marL="0">
              <a:buNone/>
            </a:pPr>
            <a:r>
              <a:rPr lang="en-US" sz="1500" b="1" spc="200" kern="0" dirty="0">
                <a:solidFill>
                  <a:srgbClr val="E0A526"/>
                </a:solidFill>
                <a:latin typeface="Calibri" pitchFamily="34" charset="0"/>
                <a:ea typeface="Calibri" pitchFamily="34" charset="-122"/>
                <a:cs typeface="Calibri" pitchFamily="34" charset="-120"/>
              </a:rPr>
              <a:t>PART ONE</a:t>
            </a:r>
            <a:endParaRPr lang="en-US" sz="1500" dirty="0"/>
          </a:p>
        </p:txBody>
      </p:sp>
      <p:sp>
        <p:nvSpPr>
          <p:cNvPr id="3" name="Text 1"/>
          <p:cNvSpPr txBox="1"/>
          <p:nvPr/>
        </p:nvSpPr>
        <p:spPr>
          <a:xfrm>
            <a:off x="502920" y="1783080"/>
            <a:ext cx="576072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Attendance Rules</a:t>
            </a:r>
            <a:endParaRPr lang="en-US" sz="4000" dirty="0"/>
          </a:p>
        </p:txBody>
      </p:sp>
      <p:sp>
        <p:nvSpPr>
          <p:cNvPr id="4" name="Text 2"/>
          <p:cNvSpPr txBox="1"/>
          <p:nvPr/>
        </p:nvSpPr>
        <p:spPr>
          <a:xfrm>
            <a:off x="502920" y="2834640"/>
            <a:ext cx="5760720" cy="914400"/>
          </a:xfrm>
          <a:prstGeom prst="rect">
            <a:avLst/>
          </a:prstGeom>
          <a:noFill/>
          <a:ln/>
        </p:spPr>
        <p:txBody>
          <a:bodyPr wrap="square" lIns="0" tIns="0" rIns="0" bIns="0" rtlCol="0" anchor="ctr"/>
          <a:lstStyle/>
          <a:p>
            <a:pPr indent="0" marL="0">
              <a:buNone/>
            </a:pPr>
            <a:r>
              <a:rPr lang="en-US" sz="1500" dirty="0">
                <a:solidFill>
                  <a:srgbClr val="9BBF8A"/>
                </a:solidFill>
                <a:latin typeface="Calibri" pitchFamily="34" charset="0"/>
                <a:ea typeface="Calibri" pitchFamily="34" charset="-122"/>
                <a:cs typeface="Calibri" pitchFamily="34" charset="-120"/>
              </a:rPr>
              <a:t>Section 9 of the Semester Regulations</a:t>
            </a:r>
            <a:endParaRPr lang="en-US" sz="1500" dirty="0"/>
          </a:p>
        </p:txBody>
      </p:sp>
      <p:sp>
        <p:nvSpPr>
          <p:cNvPr id="5" name="Shape 3"/>
          <p:cNvSpPr/>
          <p:nvPr/>
        </p:nvSpPr>
        <p:spPr>
          <a:xfrm>
            <a:off x="6720840" y="1691640"/>
            <a:ext cx="960120" cy="960120"/>
          </a:xfrm>
          <a:prstGeom prst="ellipse">
            <a:avLst/>
          </a:prstGeom>
          <a:solidFill>
            <a:srgbClr val="2F7A47"/>
          </a:solidFill>
          <a:ln w="12700">
            <a:solidFill>
              <a:srgbClr val="2F7A47"/>
            </a:solidFill>
            <a:prstDash val="solid"/>
          </a:ln>
        </p:spPr>
      </p:sp>
      <p:sp>
        <p:nvSpPr>
          <p:cNvPr id="6" name="Text 4"/>
          <p:cNvSpPr txBox="1"/>
          <p:nvPr/>
        </p:nvSpPr>
        <p:spPr>
          <a:xfrm>
            <a:off x="6720840" y="1691640"/>
            <a:ext cx="960120" cy="960120"/>
          </a:xfrm>
          <a:prstGeom prst="rect">
            <a:avLst/>
          </a:prstGeom>
          <a:noFill/>
          <a:ln/>
        </p:spPr>
        <p:txBody>
          <a:bodyPr wrap="square" lIns="0" tIns="0" rIns="0" bIns="0" rtlCol="0" anchor="ctr"/>
          <a:lstStyle/>
          <a:p>
            <a:pPr algn="ctr" indent="0" marL="0">
              <a:buNone/>
            </a:pPr>
            <a:endParaRPr lang="en-US" sz="1600" dirty="0"/>
          </a:p>
        </p:txBody>
      </p:sp>
      <p:sp>
        <p:nvSpPr>
          <p:cNvPr id="7" name="Shape 5"/>
          <p:cNvSpPr/>
          <p:nvPr/>
        </p:nvSpPr>
        <p:spPr>
          <a:xfrm>
            <a:off x="7360920" y="2514600"/>
            <a:ext cx="685800" cy="685800"/>
          </a:xfrm>
          <a:prstGeom prst="ellipse">
            <a:avLst/>
          </a:prstGeom>
          <a:solidFill>
            <a:srgbClr val="9BBF8A"/>
          </a:solidFill>
          <a:ln w="12700">
            <a:solidFill>
              <a:srgbClr val="9BBF8A"/>
            </a:solidFill>
            <a:prstDash val="solid"/>
          </a:ln>
        </p:spPr>
      </p:sp>
      <p:sp>
        <p:nvSpPr>
          <p:cNvPr id="8" name="Text 6"/>
          <p:cNvSpPr txBox="1"/>
          <p:nvPr/>
        </p:nvSpPr>
        <p:spPr>
          <a:xfrm>
            <a:off x="7360920" y="2514600"/>
            <a:ext cx="685800" cy="685800"/>
          </a:xfrm>
          <a:prstGeom prst="rect">
            <a:avLst/>
          </a:prstGeom>
          <a:noFill/>
          <a:ln/>
        </p:spPr>
        <p:txBody>
          <a:bodyPr wrap="square" lIns="0" tIns="0" rIns="0" bIns="0" rtlCol="0" anchor="ctr"/>
          <a:lstStyle/>
          <a:p>
            <a:pPr algn="ctr" indent="0" marL="0">
              <a:buNone/>
            </a:pPr>
            <a:endParaRPr lang="en-US" sz="1600" dirty="0"/>
          </a:p>
        </p:txBody>
      </p:sp>
      <p:sp>
        <p:nvSpPr>
          <p:cNvPr id="9" name="Shape 7"/>
          <p:cNvSpPr/>
          <p:nvPr/>
        </p:nvSpPr>
        <p:spPr>
          <a:xfrm>
            <a:off x="6446520" y="2880360"/>
            <a:ext cx="457200" cy="457200"/>
          </a:xfrm>
          <a:prstGeom prst="ellipse">
            <a:avLst/>
          </a:prstGeom>
          <a:solidFill>
            <a:srgbClr val="E0A526"/>
          </a:solidFill>
          <a:ln w="12700">
            <a:solidFill>
              <a:srgbClr val="E0A526"/>
            </a:solidFill>
            <a:prstDash val="solid"/>
          </a:ln>
        </p:spPr>
      </p:sp>
      <p:sp>
        <p:nvSpPr>
          <p:cNvPr id="10" name="Text 8"/>
          <p:cNvSpPr txBox="1"/>
          <p:nvPr/>
        </p:nvSpPr>
        <p:spPr>
          <a:xfrm>
            <a:off x="6446520" y="2880360"/>
            <a:ext cx="457200" cy="457200"/>
          </a:xfrm>
          <a:prstGeom prst="rect">
            <a:avLst/>
          </a:prstGeom>
          <a:noFill/>
          <a:ln/>
        </p:spPr>
        <p:txBody>
          <a:bodyPr wrap="square" lIns="0" tIns="0" rIns="0" bIns="0" rtlCol="0" anchor="ctr"/>
          <a:lstStyle/>
          <a:p>
            <a:pPr algn="ctr" indent="0" marL="0">
              <a:buNone/>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The 75% rule</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The single most important attendance rule</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02920" y="1371600"/>
            <a:ext cx="3108960" cy="2514600"/>
          </a:xfrm>
          <a:prstGeom prst="roundRect">
            <a:avLst>
              <a:gd name="adj" fmla="val 3273"/>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6" name="Text 4"/>
          <p:cNvSpPr txBox="1"/>
          <p:nvPr/>
        </p:nvSpPr>
        <p:spPr>
          <a:xfrm>
            <a:off x="502920" y="1691640"/>
            <a:ext cx="3108960" cy="914400"/>
          </a:xfrm>
          <a:prstGeom prst="rect">
            <a:avLst/>
          </a:prstGeom>
          <a:noFill/>
          <a:ln/>
        </p:spPr>
        <p:txBody>
          <a:bodyPr wrap="square" lIns="0" tIns="0" rIns="0" bIns="0" rtlCol="0" anchor="ctr"/>
          <a:lstStyle/>
          <a:p>
            <a:pPr algn="ctr" indent="0" marL="0">
              <a:buNone/>
            </a:pPr>
            <a:r>
              <a:rPr lang="en-US" sz="6600" b="1" dirty="0">
                <a:solidFill>
                  <a:srgbClr val="E0A526"/>
                </a:solidFill>
                <a:latin typeface="Cambria" pitchFamily="34" charset="0"/>
                <a:ea typeface="Cambria" pitchFamily="34" charset="-122"/>
                <a:cs typeface="Cambria" pitchFamily="34" charset="-120"/>
              </a:rPr>
              <a:t>75%</a:t>
            </a:r>
            <a:endParaRPr lang="en-US" sz="6600" dirty="0"/>
          </a:p>
        </p:txBody>
      </p:sp>
      <p:sp>
        <p:nvSpPr>
          <p:cNvPr id="7" name="Text 5"/>
          <p:cNvSpPr txBox="1"/>
          <p:nvPr/>
        </p:nvSpPr>
        <p:spPr>
          <a:xfrm>
            <a:off x="777240" y="2651760"/>
            <a:ext cx="2560320" cy="822960"/>
          </a:xfrm>
          <a:prstGeom prst="rect">
            <a:avLst/>
          </a:prstGeom>
          <a:noFill/>
          <a:ln/>
        </p:spPr>
        <p:txBody>
          <a:bodyPr wrap="square" lIns="0" tIns="0" rIns="0" bIns="0" rtlCol="0" anchor="t"/>
          <a:lstStyle/>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of the classes held in a course</a:t>
            </a:r>
            <a:endParaRPr lang="en-US" sz="1400" dirty="0"/>
          </a:p>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must be attended</a:t>
            </a:r>
            <a:endParaRPr lang="en-US" sz="1400" dirty="0"/>
          </a:p>
        </p:txBody>
      </p:sp>
      <p:sp>
        <p:nvSpPr>
          <p:cNvPr id="8" name="Shape 6"/>
          <p:cNvSpPr/>
          <p:nvPr/>
        </p:nvSpPr>
        <p:spPr>
          <a:xfrm>
            <a:off x="3977640" y="1453896"/>
            <a:ext cx="274320" cy="274320"/>
          </a:xfrm>
          <a:prstGeom prst="ellipse">
            <a:avLst/>
          </a:prstGeom>
          <a:solidFill>
            <a:srgbClr val="9BBF8A"/>
          </a:solidFill>
          <a:ln w="12700">
            <a:solidFill>
              <a:srgbClr val="9BBF8A"/>
            </a:solidFill>
            <a:prstDash val="solid"/>
          </a:ln>
        </p:spPr>
      </p:sp>
      <p:sp>
        <p:nvSpPr>
          <p:cNvPr id="9" name="Text 7"/>
          <p:cNvSpPr txBox="1"/>
          <p:nvPr/>
        </p:nvSpPr>
        <p:spPr>
          <a:xfrm>
            <a:off x="3977640" y="1453896"/>
            <a:ext cx="274320" cy="274320"/>
          </a:xfrm>
          <a:prstGeom prst="rect">
            <a:avLst/>
          </a:prstGeom>
          <a:noFill/>
          <a:ln/>
        </p:spPr>
        <p:txBody>
          <a:bodyPr wrap="square" lIns="0" tIns="0" rIns="0" bIns="0" rtlCol="0" anchor="ctr"/>
          <a:lstStyle/>
          <a:p>
            <a:pPr algn="ctr" indent="0" marL="0">
              <a:buNone/>
            </a:pPr>
            <a:endParaRPr lang="en-US" sz="1600" dirty="0"/>
          </a:p>
        </p:txBody>
      </p:sp>
      <p:sp>
        <p:nvSpPr>
          <p:cNvPr id="10" name="Text 8"/>
          <p:cNvSpPr txBox="1"/>
          <p:nvPr/>
        </p:nvSpPr>
        <p:spPr>
          <a:xfrm>
            <a:off x="4398264" y="1417320"/>
            <a:ext cx="4242816" cy="749808"/>
          </a:xfrm>
          <a:prstGeom prst="rect">
            <a:avLst/>
          </a:prstGeom>
          <a:noFill/>
          <a:ln/>
        </p:spPr>
        <p:txBody>
          <a:bodyPr wrap="square" lIns="0" tIns="0" rIns="0" bIns="0" rtlCol="0" anchor="t"/>
          <a:lstStyle/>
          <a:p>
            <a:pPr indent="0" marL="0">
              <a:lnSpc>
                <a:spcPct val="118000"/>
              </a:lnSpc>
              <a:buNone/>
            </a:pPr>
            <a:r>
              <a:rPr lang="en-US" sz="1400" dirty="0">
                <a:solidFill>
                  <a:srgbClr val="1A2620"/>
                </a:solidFill>
                <a:latin typeface="Calibri" pitchFamily="34" charset="0"/>
                <a:ea typeface="Calibri" pitchFamily="34" charset="-122"/>
                <a:cs typeface="Calibri" pitchFamily="34" charset="-120"/>
              </a:rPr>
              <a:t>Attendance is counted separately for every course, not for the whole semester.</a:t>
            </a:r>
            <a:endParaRPr lang="en-US" sz="1400" dirty="0"/>
          </a:p>
        </p:txBody>
      </p:sp>
      <p:sp>
        <p:nvSpPr>
          <p:cNvPr id="11" name="Shape 9"/>
          <p:cNvSpPr/>
          <p:nvPr/>
        </p:nvSpPr>
        <p:spPr>
          <a:xfrm>
            <a:off x="3977640" y="2295144"/>
            <a:ext cx="274320" cy="274320"/>
          </a:xfrm>
          <a:prstGeom prst="ellipse">
            <a:avLst/>
          </a:prstGeom>
          <a:solidFill>
            <a:srgbClr val="9BBF8A"/>
          </a:solidFill>
          <a:ln w="12700">
            <a:solidFill>
              <a:srgbClr val="9BBF8A"/>
            </a:solidFill>
            <a:prstDash val="solid"/>
          </a:ln>
        </p:spPr>
      </p:sp>
      <p:sp>
        <p:nvSpPr>
          <p:cNvPr id="12" name="Text 10"/>
          <p:cNvSpPr txBox="1"/>
          <p:nvPr/>
        </p:nvSpPr>
        <p:spPr>
          <a:xfrm>
            <a:off x="3977640" y="2295144"/>
            <a:ext cx="274320" cy="274320"/>
          </a:xfrm>
          <a:prstGeom prst="rect">
            <a:avLst/>
          </a:prstGeom>
          <a:noFill/>
          <a:ln/>
        </p:spPr>
        <p:txBody>
          <a:bodyPr wrap="square" lIns="0" tIns="0" rIns="0" bIns="0" rtlCol="0" anchor="ctr"/>
          <a:lstStyle/>
          <a:p>
            <a:pPr algn="ctr" indent="0" marL="0">
              <a:buNone/>
            </a:pPr>
            <a:endParaRPr lang="en-US" sz="1600" dirty="0"/>
          </a:p>
        </p:txBody>
      </p:sp>
      <p:sp>
        <p:nvSpPr>
          <p:cNvPr id="13" name="Text 11"/>
          <p:cNvSpPr txBox="1"/>
          <p:nvPr/>
        </p:nvSpPr>
        <p:spPr>
          <a:xfrm>
            <a:off x="4398264" y="2258568"/>
            <a:ext cx="4242816" cy="749808"/>
          </a:xfrm>
          <a:prstGeom prst="rect">
            <a:avLst/>
          </a:prstGeom>
          <a:noFill/>
          <a:ln/>
        </p:spPr>
        <p:txBody>
          <a:bodyPr wrap="square" lIns="0" tIns="0" rIns="0" bIns="0" rtlCol="0" anchor="t"/>
          <a:lstStyle/>
          <a:p>
            <a:pPr indent="0" marL="0">
              <a:lnSpc>
                <a:spcPct val="118000"/>
              </a:lnSpc>
              <a:buNone/>
            </a:pPr>
            <a:r>
              <a:rPr lang="en-US" sz="1400" dirty="0">
                <a:solidFill>
                  <a:srgbClr val="1A2620"/>
                </a:solidFill>
                <a:latin typeface="Calibri" pitchFamily="34" charset="0"/>
                <a:ea typeface="Calibri" pitchFamily="34" charset="-122"/>
                <a:cs typeface="Calibri" pitchFamily="34" charset="-120"/>
              </a:rPr>
              <a:t>Without 75% attendance, you are not allowed to sit in the mid term and final term exams.</a:t>
            </a:r>
            <a:endParaRPr lang="en-US" sz="1400" dirty="0"/>
          </a:p>
        </p:txBody>
      </p:sp>
      <p:sp>
        <p:nvSpPr>
          <p:cNvPr id="14" name="Shape 12"/>
          <p:cNvSpPr/>
          <p:nvPr/>
        </p:nvSpPr>
        <p:spPr>
          <a:xfrm>
            <a:off x="3977640" y="3136392"/>
            <a:ext cx="274320" cy="274320"/>
          </a:xfrm>
          <a:prstGeom prst="ellipse">
            <a:avLst/>
          </a:prstGeom>
          <a:solidFill>
            <a:srgbClr val="9BBF8A"/>
          </a:solidFill>
          <a:ln w="12700">
            <a:solidFill>
              <a:srgbClr val="9BBF8A"/>
            </a:solidFill>
            <a:prstDash val="solid"/>
          </a:ln>
        </p:spPr>
      </p:sp>
      <p:sp>
        <p:nvSpPr>
          <p:cNvPr id="15" name="Text 13"/>
          <p:cNvSpPr txBox="1"/>
          <p:nvPr/>
        </p:nvSpPr>
        <p:spPr>
          <a:xfrm>
            <a:off x="3977640" y="3136392"/>
            <a:ext cx="274320" cy="274320"/>
          </a:xfrm>
          <a:prstGeom prst="rect">
            <a:avLst/>
          </a:prstGeom>
          <a:noFill/>
          <a:ln/>
        </p:spPr>
        <p:txBody>
          <a:bodyPr wrap="square" lIns="0" tIns="0" rIns="0" bIns="0" rtlCol="0" anchor="ctr"/>
          <a:lstStyle/>
          <a:p>
            <a:pPr algn="ctr" indent="0" marL="0">
              <a:buNone/>
            </a:pPr>
            <a:endParaRPr lang="en-US" sz="1600" dirty="0"/>
          </a:p>
        </p:txBody>
      </p:sp>
      <p:sp>
        <p:nvSpPr>
          <p:cNvPr id="16" name="Text 14"/>
          <p:cNvSpPr txBox="1"/>
          <p:nvPr/>
        </p:nvSpPr>
        <p:spPr>
          <a:xfrm>
            <a:off x="4398264" y="3099816"/>
            <a:ext cx="4242816" cy="749808"/>
          </a:xfrm>
          <a:prstGeom prst="rect">
            <a:avLst/>
          </a:prstGeom>
          <a:noFill/>
          <a:ln/>
        </p:spPr>
        <p:txBody>
          <a:bodyPr wrap="square" lIns="0" tIns="0" rIns="0" bIns="0" rtlCol="0" anchor="t"/>
          <a:lstStyle/>
          <a:p>
            <a:pPr indent="0" marL="0">
              <a:lnSpc>
                <a:spcPct val="118000"/>
              </a:lnSpc>
              <a:buNone/>
            </a:pPr>
            <a:r>
              <a:rPr lang="en-US" sz="1400" dirty="0">
                <a:solidFill>
                  <a:srgbClr val="1A2620"/>
                </a:solidFill>
                <a:latin typeface="Calibri" pitchFamily="34" charset="0"/>
                <a:ea typeface="Calibri" pitchFamily="34" charset="-122"/>
                <a:cs typeface="Calibri" pitchFamily="34" charset="-120"/>
              </a:rPr>
              <a:t>If your attendance is short at mid term, you may be allowed to sit provisionally, but you must complete 75% before the final exam.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How much absence is allowed?</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Maximum 25% absence - and not all at once</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02920" y="1371600"/>
            <a:ext cx="2529840" cy="2148840"/>
          </a:xfrm>
          <a:prstGeom prst="roundRect">
            <a:avLst>
              <a:gd name="adj" fmla="val 3830"/>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6" name="Text 4"/>
          <p:cNvSpPr txBox="1"/>
          <p:nvPr/>
        </p:nvSpPr>
        <p:spPr>
          <a:xfrm>
            <a:off x="502920" y="1536192"/>
            <a:ext cx="2529840" cy="594360"/>
          </a:xfrm>
          <a:prstGeom prst="rect">
            <a:avLst/>
          </a:prstGeom>
          <a:noFill/>
          <a:ln/>
        </p:spPr>
        <p:txBody>
          <a:bodyPr wrap="square" lIns="0" tIns="0" rIns="0" bIns="0" rtlCol="0" anchor="ctr"/>
          <a:lstStyle/>
          <a:p>
            <a:pPr algn="ctr" indent="0" marL="0">
              <a:buNone/>
            </a:pPr>
            <a:r>
              <a:rPr lang="en-US" sz="3800" b="1" dirty="0">
                <a:solidFill>
                  <a:srgbClr val="1F4D2E"/>
                </a:solidFill>
                <a:latin typeface="Cambria" pitchFamily="34" charset="0"/>
                <a:ea typeface="Cambria" pitchFamily="34" charset="-122"/>
                <a:cs typeface="Cambria" pitchFamily="34" charset="-120"/>
              </a:rPr>
              <a:t>25%</a:t>
            </a:r>
            <a:endParaRPr lang="en-US" sz="3800" dirty="0"/>
          </a:p>
        </p:txBody>
      </p:sp>
      <p:sp>
        <p:nvSpPr>
          <p:cNvPr id="7" name="Text 5"/>
          <p:cNvSpPr txBox="1"/>
          <p:nvPr/>
        </p:nvSpPr>
        <p:spPr>
          <a:xfrm>
            <a:off x="667512" y="2176272"/>
            <a:ext cx="2200656" cy="274320"/>
          </a:xfrm>
          <a:prstGeom prst="rect">
            <a:avLst/>
          </a:prstGeom>
          <a:noFill/>
          <a:ln/>
        </p:spPr>
        <p:txBody>
          <a:bodyPr wrap="square" lIns="0" tIns="0" rIns="0" bIns="0" rtlCol="0" anchor="ctr"/>
          <a:lstStyle/>
          <a:p>
            <a:pPr algn="ctr" indent="0" marL="0">
              <a:buNone/>
            </a:pPr>
            <a:r>
              <a:rPr lang="en-US" sz="1300" b="1" dirty="0">
                <a:solidFill>
                  <a:srgbClr val="2F7A47"/>
                </a:solidFill>
                <a:latin typeface="Calibri" pitchFamily="34" charset="0"/>
                <a:ea typeface="Calibri" pitchFamily="34" charset="-122"/>
                <a:cs typeface="Calibri" pitchFamily="34" charset="-120"/>
              </a:rPr>
              <a:t>Maximum absence</a:t>
            </a:r>
            <a:endParaRPr lang="en-US" sz="1300" dirty="0"/>
          </a:p>
        </p:txBody>
      </p:sp>
      <p:sp>
        <p:nvSpPr>
          <p:cNvPr id="8" name="Text 6"/>
          <p:cNvSpPr txBox="1"/>
          <p:nvPr/>
        </p:nvSpPr>
        <p:spPr>
          <a:xfrm>
            <a:off x="704088" y="2487168"/>
            <a:ext cx="2127504" cy="914400"/>
          </a:xfrm>
          <a:prstGeom prst="rect">
            <a:avLst/>
          </a:prstGeom>
          <a:noFill/>
          <a:ln/>
        </p:spPr>
        <p:txBody>
          <a:bodyPr wrap="square" lIns="0" tIns="0" rIns="0" bIns="0" rtlCol="0" anchor="t"/>
          <a:lstStyle/>
          <a:p>
            <a:pPr algn="ctr" indent="0" marL="0">
              <a:lnSpc>
                <a:spcPct val="115000"/>
              </a:lnSpc>
              <a:buNone/>
            </a:pPr>
            <a:r>
              <a:rPr lang="en-US" sz="1250" dirty="0">
                <a:solidFill>
                  <a:srgbClr val="5F6F66"/>
                </a:solidFill>
                <a:latin typeface="Calibri" pitchFamily="34" charset="0"/>
                <a:ea typeface="Calibri" pitchFamily="34" charset="-122"/>
                <a:cs typeface="Calibri" pitchFamily="34" charset="-120"/>
              </a:rPr>
              <a:t>You may miss up to 25% of classes, but not in one long stretch.</a:t>
            </a:r>
            <a:endParaRPr lang="en-US" sz="1250" dirty="0"/>
          </a:p>
        </p:txBody>
      </p:sp>
      <p:sp>
        <p:nvSpPr>
          <p:cNvPr id="9" name="Shape 7"/>
          <p:cNvSpPr/>
          <p:nvPr/>
        </p:nvSpPr>
        <p:spPr>
          <a:xfrm>
            <a:off x="3307080" y="1371600"/>
            <a:ext cx="2529840" cy="2148840"/>
          </a:xfrm>
          <a:prstGeom prst="roundRect">
            <a:avLst>
              <a:gd name="adj" fmla="val 3830"/>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0" name="Text 8"/>
          <p:cNvSpPr txBox="1"/>
          <p:nvPr/>
        </p:nvSpPr>
        <p:spPr>
          <a:xfrm>
            <a:off x="3307080" y="1536192"/>
            <a:ext cx="2529840" cy="594360"/>
          </a:xfrm>
          <a:prstGeom prst="rect">
            <a:avLst/>
          </a:prstGeom>
          <a:noFill/>
          <a:ln/>
        </p:spPr>
        <p:txBody>
          <a:bodyPr wrap="square" lIns="0" tIns="0" rIns="0" bIns="0" rtlCol="0" anchor="ctr"/>
          <a:lstStyle/>
          <a:p>
            <a:pPr algn="ctr" indent="0" marL="0">
              <a:buNone/>
            </a:pPr>
            <a:r>
              <a:rPr lang="en-US" sz="3800" b="1" dirty="0">
                <a:solidFill>
                  <a:srgbClr val="1F4D2E"/>
                </a:solidFill>
                <a:latin typeface="Cambria" pitchFamily="34" charset="0"/>
                <a:ea typeface="Cambria" pitchFamily="34" charset="-122"/>
                <a:cs typeface="Cambria" pitchFamily="34" charset="-120"/>
              </a:rPr>
              <a:t>FW</a:t>
            </a:r>
            <a:endParaRPr lang="en-US" sz="3800" dirty="0"/>
          </a:p>
        </p:txBody>
      </p:sp>
      <p:sp>
        <p:nvSpPr>
          <p:cNvPr id="11" name="Text 9"/>
          <p:cNvSpPr txBox="1"/>
          <p:nvPr/>
        </p:nvSpPr>
        <p:spPr>
          <a:xfrm>
            <a:off x="3471672" y="2176272"/>
            <a:ext cx="2200656" cy="274320"/>
          </a:xfrm>
          <a:prstGeom prst="rect">
            <a:avLst/>
          </a:prstGeom>
          <a:noFill/>
          <a:ln/>
        </p:spPr>
        <p:txBody>
          <a:bodyPr wrap="square" lIns="0" tIns="0" rIns="0" bIns="0" rtlCol="0" anchor="ctr"/>
          <a:lstStyle/>
          <a:p>
            <a:pPr algn="ctr" indent="0" marL="0">
              <a:buNone/>
            </a:pPr>
            <a:r>
              <a:rPr lang="en-US" sz="1300" b="1" dirty="0">
                <a:solidFill>
                  <a:srgbClr val="2F7A47"/>
                </a:solidFill>
                <a:latin typeface="Calibri" pitchFamily="34" charset="0"/>
                <a:ea typeface="Calibri" pitchFamily="34" charset="-122"/>
                <a:cs typeface="Calibri" pitchFamily="34" charset="-120"/>
              </a:rPr>
              <a:t>Forced Withdrawal</a:t>
            </a:r>
            <a:endParaRPr lang="en-US" sz="1300" dirty="0"/>
          </a:p>
        </p:txBody>
      </p:sp>
      <p:sp>
        <p:nvSpPr>
          <p:cNvPr id="12" name="Text 10"/>
          <p:cNvSpPr txBox="1"/>
          <p:nvPr/>
        </p:nvSpPr>
        <p:spPr>
          <a:xfrm>
            <a:off x="3508248" y="2487168"/>
            <a:ext cx="2127504" cy="914400"/>
          </a:xfrm>
          <a:prstGeom prst="rect">
            <a:avLst/>
          </a:prstGeom>
          <a:noFill/>
          <a:ln/>
        </p:spPr>
        <p:txBody>
          <a:bodyPr wrap="square" lIns="0" tIns="0" rIns="0" bIns="0" rtlCol="0" anchor="t"/>
          <a:lstStyle/>
          <a:p>
            <a:pPr algn="ctr" indent="0" marL="0">
              <a:lnSpc>
                <a:spcPct val="115000"/>
              </a:lnSpc>
              <a:buNone/>
            </a:pPr>
            <a:r>
              <a:rPr lang="en-US" sz="1250" dirty="0">
                <a:solidFill>
                  <a:srgbClr val="5F6F66"/>
                </a:solidFill>
                <a:latin typeface="Calibri" pitchFamily="34" charset="0"/>
                <a:ea typeface="Calibri" pitchFamily="34" charset="-122"/>
                <a:cs typeface="Calibri" pitchFamily="34" charset="-120"/>
              </a:rPr>
              <a:t>Use up the full allowance and your low-attendance course is marked FW.</a:t>
            </a:r>
            <a:endParaRPr lang="en-US" sz="1250" dirty="0"/>
          </a:p>
        </p:txBody>
      </p:sp>
      <p:sp>
        <p:nvSpPr>
          <p:cNvPr id="13" name="Shape 11"/>
          <p:cNvSpPr/>
          <p:nvPr/>
        </p:nvSpPr>
        <p:spPr>
          <a:xfrm>
            <a:off x="6111240" y="1371600"/>
            <a:ext cx="2529840" cy="2148840"/>
          </a:xfrm>
          <a:prstGeom prst="roundRect">
            <a:avLst>
              <a:gd name="adj" fmla="val 3830"/>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4" name="Text 12"/>
          <p:cNvSpPr txBox="1"/>
          <p:nvPr/>
        </p:nvSpPr>
        <p:spPr>
          <a:xfrm>
            <a:off x="6111240" y="1536192"/>
            <a:ext cx="2529840" cy="594360"/>
          </a:xfrm>
          <a:prstGeom prst="rect">
            <a:avLst/>
          </a:prstGeom>
          <a:noFill/>
          <a:ln/>
        </p:spPr>
        <p:txBody>
          <a:bodyPr wrap="square" lIns="0" tIns="0" rIns="0" bIns="0" rtlCol="0" anchor="ctr"/>
          <a:lstStyle/>
          <a:p>
            <a:pPr algn="ctr" indent="0" marL="0">
              <a:buNone/>
            </a:pPr>
            <a:r>
              <a:rPr lang="en-US" sz="3800" b="1" dirty="0">
                <a:solidFill>
                  <a:srgbClr val="1F4D2E"/>
                </a:solidFill>
                <a:latin typeface="Cambria" pitchFamily="34" charset="0"/>
                <a:ea typeface="Cambria" pitchFamily="34" charset="-122"/>
                <a:cs typeface="Cambria" pitchFamily="34" charset="-120"/>
              </a:rPr>
              <a:t>0</a:t>
            </a:r>
            <a:endParaRPr lang="en-US" sz="3800" dirty="0"/>
          </a:p>
        </p:txBody>
      </p:sp>
      <p:sp>
        <p:nvSpPr>
          <p:cNvPr id="15" name="Text 13"/>
          <p:cNvSpPr txBox="1"/>
          <p:nvPr/>
        </p:nvSpPr>
        <p:spPr>
          <a:xfrm>
            <a:off x="6275832" y="2176272"/>
            <a:ext cx="2200656" cy="274320"/>
          </a:xfrm>
          <a:prstGeom prst="rect">
            <a:avLst/>
          </a:prstGeom>
          <a:noFill/>
          <a:ln/>
        </p:spPr>
        <p:txBody>
          <a:bodyPr wrap="square" lIns="0" tIns="0" rIns="0" bIns="0" rtlCol="0" anchor="ctr"/>
          <a:lstStyle/>
          <a:p>
            <a:pPr algn="ctr" indent="0" marL="0">
              <a:buNone/>
            </a:pPr>
            <a:r>
              <a:rPr lang="en-US" sz="1300" b="1" dirty="0">
                <a:solidFill>
                  <a:srgbClr val="2F7A47"/>
                </a:solidFill>
                <a:latin typeface="Calibri" pitchFamily="34" charset="0"/>
                <a:ea typeface="Calibri" pitchFamily="34" charset="-122"/>
                <a:cs typeface="Calibri" pitchFamily="34" charset="-120"/>
              </a:rPr>
              <a:t>Effect on GPA</a:t>
            </a:r>
            <a:endParaRPr lang="en-US" sz="1300" dirty="0"/>
          </a:p>
        </p:txBody>
      </p:sp>
      <p:sp>
        <p:nvSpPr>
          <p:cNvPr id="16" name="Text 14"/>
          <p:cNvSpPr txBox="1"/>
          <p:nvPr/>
        </p:nvSpPr>
        <p:spPr>
          <a:xfrm>
            <a:off x="6312408" y="2487168"/>
            <a:ext cx="2127504" cy="914400"/>
          </a:xfrm>
          <a:prstGeom prst="rect">
            <a:avLst/>
          </a:prstGeom>
          <a:noFill/>
          <a:ln/>
        </p:spPr>
        <p:txBody>
          <a:bodyPr wrap="square" lIns="0" tIns="0" rIns="0" bIns="0" rtlCol="0" anchor="t"/>
          <a:lstStyle/>
          <a:p>
            <a:pPr algn="ctr" indent="0" marL="0">
              <a:lnSpc>
                <a:spcPct val="115000"/>
              </a:lnSpc>
              <a:buNone/>
            </a:pPr>
            <a:r>
              <a:rPr lang="en-US" sz="1250" dirty="0">
                <a:solidFill>
                  <a:srgbClr val="5F6F66"/>
                </a:solidFill>
                <a:latin typeface="Calibri" pitchFamily="34" charset="0"/>
                <a:ea typeface="Calibri" pitchFamily="34" charset="-122"/>
                <a:cs typeface="Calibri" pitchFamily="34" charset="-120"/>
              </a:rPr>
              <a:t>FW is not counted in GPA or CGPA, but it appears on your transcript.</a:t>
            </a:r>
            <a:endParaRPr lang="en-US" sz="1250" dirty="0"/>
          </a:p>
        </p:txBody>
      </p:sp>
      <p:sp>
        <p:nvSpPr>
          <p:cNvPr id="17" name="Shape 15"/>
          <p:cNvSpPr/>
          <p:nvPr/>
        </p:nvSpPr>
        <p:spPr>
          <a:xfrm>
            <a:off x="502920" y="3730752"/>
            <a:ext cx="8138160" cy="658368"/>
          </a:xfrm>
          <a:prstGeom prst="roundRect">
            <a:avLst>
              <a:gd name="adj" fmla="val 12500"/>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18" name="Text 16"/>
          <p:cNvSpPr txBox="1"/>
          <p:nvPr/>
        </p:nvSpPr>
        <p:spPr>
          <a:xfrm>
            <a:off x="777240" y="3730752"/>
            <a:ext cx="7589520" cy="65836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course with an FW grade must be repeated with a junior session, and you pay the course fee and exam fee again.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Extra 5% relaxation - with a fine</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Only the Head of Department can give it</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02920" y="1371600"/>
            <a:ext cx="3931920" cy="1280160"/>
          </a:xfrm>
          <a:prstGeom prst="roundRect">
            <a:avLst>
              <a:gd name="adj" fmla="val 6429"/>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6" name="Shape 4"/>
          <p:cNvSpPr/>
          <p:nvPr/>
        </p:nvSpPr>
        <p:spPr>
          <a:xfrm>
            <a:off x="758952" y="1627632"/>
            <a:ext cx="502920" cy="502920"/>
          </a:xfrm>
          <a:prstGeom prst="ellipse">
            <a:avLst/>
          </a:prstGeom>
          <a:solidFill>
            <a:srgbClr val="1F4D2E"/>
          </a:solidFill>
          <a:ln w="12700">
            <a:solidFill>
              <a:srgbClr val="1F4D2E"/>
            </a:solidFill>
            <a:prstDash val="solid"/>
          </a:ln>
        </p:spPr>
      </p:sp>
      <p:sp>
        <p:nvSpPr>
          <p:cNvPr id="7" name="Text 5"/>
          <p:cNvSpPr txBox="1"/>
          <p:nvPr/>
        </p:nvSpPr>
        <p:spPr>
          <a:xfrm>
            <a:off x="758952" y="1627632"/>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8" name="Text 6"/>
          <p:cNvSpPr txBox="1"/>
          <p:nvPr/>
        </p:nvSpPr>
        <p:spPr>
          <a:xfrm>
            <a:off x="1417320" y="1572768"/>
            <a:ext cx="2834640" cy="274320"/>
          </a:xfrm>
          <a:prstGeom prst="rect">
            <a:avLst/>
          </a:prstGeom>
          <a:noFill/>
          <a:ln/>
        </p:spPr>
        <p:txBody>
          <a:bodyPr wrap="square" lIns="0" tIns="0" rIns="0" bIns="0" rtlCol="0" anchor="ctr"/>
          <a:lstStyle/>
          <a:p>
            <a:pPr indent="0" marL="0">
              <a:buNone/>
            </a:pPr>
            <a:r>
              <a:rPr lang="en-US" sz="1600" b="1" dirty="0">
                <a:solidFill>
                  <a:srgbClr val="1F4D2E"/>
                </a:solidFill>
                <a:latin typeface="Cambria" pitchFamily="34" charset="0"/>
                <a:ea typeface="Cambria" pitchFamily="34" charset="-122"/>
                <a:cs typeface="Cambria" pitchFamily="34" charset="-120"/>
              </a:rPr>
              <a:t>Relaxation on request</a:t>
            </a:r>
            <a:endParaRPr lang="en-US" sz="1600" dirty="0"/>
          </a:p>
        </p:txBody>
      </p:sp>
      <p:sp>
        <p:nvSpPr>
          <p:cNvPr id="9" name="Text 7"/>
          <p:cNvSpPr txBox="1"/>
          <p:nvPr/>
        </p:nvSpPr>
        <p:spPr>
          <a:xfrm>
            <a:off x="1417320" y="1883664"/>
            <a:ext cx="2834640" cy="640080"/>
          </a:xfrm>
          <a:prstGeom prst="rect">
            <a:avLst/>
          </a:prstGeom>
          <a:noFill/>
          <a:ln/>
        </p:spPr>
        <p:txBody>
          <a:bodyPr wrap="square" lIns="0" tIns="0" rIns="0" bIns="0" rtlCol="0" anchor="t"/>
          <a:lstStyle/>
          <a:p>
            <a:pPr indent="0" marL="0">
              <a:lnSpc>
                <a:spcPct val="115000"/>
              </a:lnSpc>
              <a:buNone/>
            </a:pPr>
            <a:r>
              <a:rPr lang="en-US" sz="1300" dirty="0">
                <a:solidFill>
                  <a:srgbClr val="5F6F66"/>
                </a:solidFill>
                <a:latin typeface="Calibri" pitchFamily="34" charset="0"/>
                <a:ea typeface="Calibri" pitchFamily="34" charset="-122"/>
                <a:cs typeface="Calibri" pitchFamily="34" charset="-120"/>
              </a:rPr>
              <a:t>The HoD may relax attendance by 5% if the student applies for it.</a:t>
            </a:r>
            <a:endParaRPr lang="en-US" sz="1300" dirty="0"/>
          </a:p>
        </p:txBody>
      </p:sp>
      <p:sp>
        <p:nvSpPr>
          <p:cNvPr id="10" name="Shape 8"/>
          <p:cNvSpPr/>
          <p:nvPr/>
        </p:nvSpPr>
        <p:spPr>
          <a:xfrm>
            <a:off x="4709160" y="1371600"/>
            <a:ext cx="3931920" cy="1280160"/>
          </a:xfrm>
          <a:prstGeom prst="roundRect">
            <a:avLst>
              <a:gd name="adj" fmla="val 6429"/>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11" name="Text 9"/>
          <p:cNvSpPr txBox="1"/>
          <p:nvPr/>
        </p:nvSpPr>
        <p:spPr>
          <a:xfrm>
            <a:off x="4937760" y="1536192"/>
            <a:ext cx="3474720" cy="457200"/>
          </a:xfrm>
          <a:prstGeom prst="rect">
            <a:avLst/>
          </a:prstGeom>
          <a:noFill/>
          <a:ln/>
        </p:spPr>
        <p:txBody>
          <a:bodyPr wrap="square" lIns="0" tIns="0" rIns="0" bIns="0" rtlCol="0" anchor="ctr"/>
          <a:lstStyle/>
          <a:p>
            <a:pPr indent="0" marL="0">
              <a:buNone/>
            </a:pPr>
            <a:r>
              <a:rPr lang="en-US" sz="3000" b="1" dirty="0">
                <a:solidFill>
                  <a:srgbClr val="E0A526"/>
                </a:solidFill>
                <a:latin typeface="Cambria" pitchFamily="34" charset="0"/>
                <a:ea typeface="Cambria" pitchFamily="34" charset="-122"/>
                <a:cs typeface="Cambria" pitchFamily="34" charset="-120"/>
              </a:rPr>
              <a:t>Rs. 2,000</a:t>
            </a:r>
            <a:endParaRPr lang="en-US" sz="3000" dirty="0"/>
          </a:p>
        </p:txBody>
      </p:sp>
      <p:sp>
        <p:nvSpPr>
          <p:cNvPr id="12" name="Text 10"/>
          <p:cNvSpPr txBox="1"/>
          <p:nvPr/>
        </p:nvSpPr>
        <p:spPr>
          <a:xfrm>
            <a:off x="4937760" y="2011680"/>
            <a:ext cx="3474720" cy="54864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fine per short-attendance course</a:t>
            </a: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(maximum Rs. 5,000 in one semester)</a:t>
            </a:r>
            <a:endParaRPr lang="en-US" sz="1300" dirty="0"/>
          </a:p>
        </p:txBody>
      </p:sp>
      <p:sp>
        <p:nvSpPr>
          <p:cNvPr id="13" name="Shape 11"/>
          <p:cNvSpPr/>
          <p:nvPr/>
        </p:nvSpPr>
        <p:spPr>
          <a:xfrm>
            <a:off x="502920" y="2834640"/>
            <a:ext cx="8138160" cy="1207008"/>
          </a:xfrm>
          <a:prstGeom prst="roundRect">
            <a:avLst>
              <a:gd name="adj" fmla="val 6818"/>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4" name="Text 12"/>
          <p:cNvSpPr txBox="1"/>
          <p:nvPr/>
        </p:nvSpPr>
        <p:spPr>
          <a:xfrm>
            <a:off x="822960" y="2999232"/>
            <a:ext cx="7498080" cy="292608"/>
          </a:xfrm>
          <a:prstGeom prst="rect">
            <a:avLst/>
          </a:prstGeom>
          <a:noFill/>
          <a:ln/>
        </p:spPr>
        <p:txBody>
          <a:bodyPr wrap="square" lIns="0" tIns="0" rIns="0" bIns="0" rtlCol="0" anchor="ctr"/>
          <a:lstStyle/>
          <a:p>
            <a:pPr indent="0" marL="0">
              <a:buNone/>
            </a:pPr>
            <a:r>
              <a:rPr lang="en-US" sz="1700" b="1" dirty="0">
                <a:solidFill>
                  <a:srgbClr val="1F4D2E"/>
                </a:solidFill>
                <a:latin typeface="Cambria" pitchFamily="34" charset="0"/>
                <a:ea typeface="Cambria" pitchFamily="34" charset="-122"/>
                <a:cs typeface="Cambria" pitchFamily="34" charset="-120"/>
              </a:rPr>
              <a:t>So what is the real limit?</a:t>
            </a:r>
            <a:endParaRPr lang="en-US" sz="1700" dirty="0"/>
          </a:p>
        </p:txBody>
      </p:sp>
      <p:sp>
        <p:nvSpPr>
          <p:cNvPr id="15" name="Text 13"/>
          <p:cNvSpPr txBox="1"/>
          <p:nvPr/>
        </p:nvSpPr>
        <p:spPr>
          <a:xfrm>
            <a:off x="822960" y="3346704"/>
            <a:ext cx="7498080" cy="8229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A2620"/>
                </a:solidFill>
                <a:latin typeface="Calibri" pitchFamily="34" charset="0"/>
                <a:ea typeface="Calibri" pitchFamily="34" charset="-122"/>
                <a:cs typeface="Calibri" pitchFamily="34" charset="-120"/>
              </a:rPr>
              <a:t>25% allowed absence  +  5% relaxation by HoD  =  30% total</a:t>
            </a:r>
            <a:endParaRPr lang="en-US" sz="1350" dirty="0"/>
          </a:p>
          <a:p>
            <a:pPr marL="342900" indent="-342900">
              <a:spcAft>
                <a:spcPts val="600"/>
              </a:spcAft>
              <a:buSzPct val="100000"/>
              <a:buChar char="•"/>
            </a:pPr>
            <a:r>
              <a:rPr lang="en-US" sz="1350" dirty="0">
                <a:solidFill>
                  <a:srgbClr val="1A2620"/>
                </a:solidFill>
                <a:latin typeface="Calibri" pitchFamily="34" charset="0"/>
                <a:ea typeface="Calibri" pitchFamily="34" charset="-122"/>
                <a:cs typeface="Calibri" pitchFamily="34" charset="-120"/>
              </a:rPr>
              <a:t>This 30% includes both absents (without permission) and leave (with permission).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Special cases</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The rules are slightly different for these students</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02920" y="1371600"/>
            <a:ext cx="8138160" cy="932688"/>
          </a:xfrm>
          <a:prstGeom prst="roundRect">
            <a:avLst>
              <a:gd name="adj" fmla="val 8824"/>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6" name="Shape 4"/>
          <p:cNvSpPr/>
          <p:nvPr/>
        </p:nvSpPr>
        <p:spPr>
          <a:xfrm>
            <a:off x="740664" y="1600200"/>
            <a:ext cx="475488" cy="475488"/>
          </a:xfrm>
          <a:prstGeom prst="ellipse">
            <a:avLst/>
          </a:prstGeom>
          <a:solidFill>
            <a:srgbClr val="1F4D2E"/>
          </a:solidFill>
          <a:ln w="12700">
            <a:solidFill>
              <a:srgbClr val="1F4D2E"/>
            </a:solidFill>
            <a:prstDash val="solid"/>
          </a:ln>
        </p:spPr>
      </p:sp>
      <p:sp>
        <p:nvSpPr>
          <p:cNvPr id="7" name="Text 5"/>
          <p:cNvSpPr txBox="1"/>
          <p:nvPr/>
        </p:nvSpPr>
        <p:spPr>
          <a:xfrm>
            <a:off x="740664" y="160020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H</a:t>
            </a:r>
            <a:endParaRPr lang="en-US" sz="1700" dirty="0"/>
          </a:p>
        </p:txBody>
      </p:sp>
      <p:sp>
        <p:nvSpPr>
          <p:cNvPr id="8" name="Text 6"/>
          <p:cNvSpPr txBox="1"/>
          <p:nvPr/>
        </p:nvSpPr>
        <p:spPr>
          <a:xfrm>
            <a:off x="1371600" y="1499616"/>
            <a:ext cx="6995160" cy="274320"/>
          </a:xfrm>
          <a:prstGeom prst="rect">
            <a:avLst/>
          </a:prstGeom>
          <a:noFill/>
          <a:ln/>
        </p:spPr>
        <p:txBody>
          <a:bodyPr wrap="square" lIns="0" tIns="0" rIns="0" bIns="0" rtlCol="0" anchor="ctr"/>
          <a:lstStyle/>
          <a:p>
            <a:pPr indent="0" marL="0">
              <a:buNone/>
            </a:pPr>
            <a:r>
              <a:rPr lang="en-US" sz="1550" b="1" dirty="0">
                <a:solidFill>
                  <a:srgbClr val="1F4D2E"/>
                </a:solidFill>
                <a:latin typeface="Cambria" pitchFamily="34" charset="0"/>
                <a:ea typeface="Cambria" pitchFamily="34" charset="-122"/>
                <a:cs typeface="Cambria" pitchFamily="34" charset="-120"/>
              </a:rPr>
              <a:t>Hajj or maternity</a:t>
            </a:r>
            <a:endParaRPr lang="en-US" sz="1550" dirty="0"/>
          </a:p>
        </p:txBody>
      </p:sp>
      <p:sp>
        <p:nvSpPr>
          <p:cNvPr id="9" name="Text 7"/>
          <p:cNvSpPr txBox="1"/>
          <p:nvPr/>
        </p:nvSpPr>
        <p:spPr>
          <a:xfrm>
            <a:off x="1371600" y="1792224"/>
            <a:ext cx="6995160" cy="438912"/>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The full 25% absence may be taken in one stretch, with prior approval of the HoD.</a:t>
            </a:r>
            <a:endParaRPr lang="en-US" sz="1250" dirty="0"/>
          </a:p>
        </p:txBody>
      </p:sp>
      <p:sp>
        <p:nvSpPr>
          <p:cNvPr id="10" name="Shape 8"/>
          <p:cNvSpPr/>
          <p:nvPr/>
        </p:nvSpPr>
        <p:spPr>
          <a:xfrm>
            <a:off x="502920" y="2450592"/>
            <a:ext cx="8138160" cy="932688"/>
          </a:xfrm>
          <a:prstGeom prst="roundRect">
            <a:avLst>
              <a:gd name="adj" fmla="val 8824"/>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1" name="Shape 9"/>
          <p:cNvSpPr/>
          <p:nvPr/>
        </p:nvSpPr>
        <p:spPr>
          <a:xfrm>
            <a:off x="740664" y="2679192"/>
            <a:ext cx="475488" cy="475488"/>
          </a:xfrm>
          <a:prstGeom prst="ellipse">
            <a:avLst/>
          </a:prstGeom>
          <a:solidFill>
            <a:srgbClr val="1F4D2E"/>
          </a:solidFill>
          <a:ln w="12700">
            <a:solidFill>
              <a:srgbClr val="1F4D2E"/>
            </a:solidFill>
            <a:prstDash val="solid"/>
          </a:ln>
        </p:spPr>
      </p:sp>
      <p:sp>
        <p:nvSpPr>
          <p:cNvPr id="12" name="Text 10"/>
          <p:cNvSpPr txBox="1"/>
          <p:nvPr/>
        </p:nvSpPr>
        <p:spPr>
          <a:xfrm>
            <a:off x="740664" y="26791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a:t>
            </a:r>
            <a:endParaRPr lang="en-US" sz="1700" dirty="0"/>
          </a:p>
        </p:txBody>
      </p:sp>
      <p:sp>
        <p:nvSpPr>
          <p:cNvPr id="13" name="Text 11"/>
          <p:cNvSpPr txBox="1"/>
          <p:nvPr/>
        </p:nvSpPr>
        <p:spPr>
          <a:xfrm>
            <a:off x="1371600" y="2578608"/>
            <a:ext cx="6995160" cy="274320"/>
          </a:xfrm>
          <a:prstGeom prst="rect">
            <a:avLst/>
          </a:prstGeom>
          <a:noFill/>
          <a:ln/>
        </p:spPr>
        <p:txBody>
          <a:bodyPr wrap="square" lIns="0" tIns="0" rIns="0" bIns="0" rtlCol="0" anchor="ctr"/>
          <a:lstStyle/>
          <a:p>
            <a:pPr indent="0" marL="0">
              <a:buNone/>
            </a:pPr>
            <a:r>
              <a:rPr lang="en-US" sz="1550" b="1" dirty="0">
                <a:solidFill>
                  <a:srgbClr val="1F4D2E"/>
                </a:solidFill>
                <a:latin typeface="Cambria" pitchFamily="34" charset="0"/>
                <a:ea typeface="Cambria" pitchFamily="34" charset="-122"/>
                <a:cs typeface="Cambria" pitchFamily="34" charset="-120"/>
              </a:rPr>
              <a:t>National / international sportspersons</a:t>
            </a:r>
            <a:endParaRPr lang="en-US" sz="1550" dirty="0"/>
          </a:p>
        </p:txBody>
      </p:sp>
      <p:sp>
        <p:nvSpPr>
          <p:cNvPr id="14" name="Text 12"/>
          <p:cNvSpPr txBox="1"/>
          <p:nvPr/>
        </p:nvSpPr>
        <p:spPr>
          <a:xfrm>
            <a:off x="1371600" y="2871216"/>
            <a:ext cx="6995160" cy="438912"/>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Attendance is counted after removing the classes held on the days spent in the games. The department arranges make-up lectures before exams.</a:t>
            </a:r>
            <a:endParaRPr lang="en-US" sz="1250" dirty="0"/>
          </a:p>
        </p:txBody>
      </p:sp>
      <p:sp>
        <p:nvSpPr>
          <p:cNvPr id="15" name="Shape 13"/>
          <p:cNvSpPr/>
          <p:nvPr/>
        </p:nvSpPr>
        <p:spPr>
          <a:xfrm>
            <a:off x="502920" y="3529584"/>
            <a:ext cx="8138160" cy="932688"/>
          </a:xfrm>
          <a:prstGeom prst="roundRect">
            <a:avLst>
              <a:gd name="adj" fmla="val 8824"/>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6" name="Shape 14"/>
          <p:cNvSpPr/>
          <p:nvPr/>
        </p:nvSpPr>
        <p:spPr>
          <a:xfrm>
            <a:off x="740664" y="3758184"/>
            <a:ext cx="475488" cy="475488"/>
          </a:xfrm>
          <a:prstGeom prst="ellipse">
            <a:avLst/>
          </a:prstGeom>
          <a:solidFill>
            <a:srgbClr val="E0A526"/>
          </a:solidFill>
          <a:ln w="12700">
            <a:solidFill>
              <a:srgbClr val="E0A526"/>
            </a:solidFill>
            <a:prstDash val="solid"/>
          </a:ln>
        </p:spPr>
      </p:sp>
      <p:sp>
        <p:nvSpPr>
          <p:cNvPr id="17" name="Text 15"/>
          <p:cNvSpPr txBox="1"/>
          <p:nvPr/>
        </p:nvSpPr>
        <p:spPr>
          <a:xfrm>
            <a:off x="740664" y="3758184"/>
            <a:ext cx="475488" cy="475488"/>
          </a:xfrm>
          <a:prstGeom prst="rect">
            <a:avLst/>
          </a:prstGeom>
          <a:noFill/>
          <a:ln/>
        </p:spPr>
        <p:txBody>
          <a:bodyPr wrap="square" lIns="0" tIns="0" rIns="0" bIns="0" rtlCol="0" anchor="ctr"/>
          <a:lstStyle/>
          <a:p>
            <a:pPr algn="ctr" indent="0" marL="0">
              <a:buNone/>
            </a:pPr>
            <a:r>
              <a:rPr lang="en-US" sz="1700" b="1" dirty="0">
                <a:solidFill>
                  <a:srgbClr val="1F4D2E"/>
                </a:solidFill>
                <a:latin typeface="Cambria" pitchFamily="34" charset="0"/>
                <a:ea typeface="Cambria" pitchFamily="34" charset="-122"/>
                <a:cs typeface="Cambria" pitchFamily="34" charset="-120"/>
              </a:rPr>
              <a:t>L</a:t>
            </a:r>
            <a:endParaRPr lang="en-US" sz="1700" dirty="0"/>
          </a:p>
        </p:txBody>
      </p:sp>
      <p:sp>
        <p:nvSpPr>
          <p:cNvPr id="18" name="Text 16"/>
          <p:cNvSpPr txBox="1"/>
          <p:nvPr/>
        </p:nvSpPr>
        <p:spPr>
          <a:xfrm>
            <a:off x="1371600" y="3657600"/>
            <a:ext cx="6995160" cy="274320"/>
          </a:xfrm>
          <a:prstGeom prst="rect">
            <a:avLst/>
          </a:prstGeom>
          <a:noFill/>
          <a:ln/>
        </p:spPr>
        <p:txBody>
          <a:bodyPr wrap="square" lIns="0" tIns="0" rIns="0" bIns="0" rtlCol="0" anchor="ctr"/>
          <a:lstStyle/>
          <a:p>
            <a:pPr indent="0" marL="0">
              <a:buNone/>
            </a:pPr>
            <a:r>
              <a:rPr lang="en-US" sz="1550" b="1" dirty="0">
                <a:solidFill>
                  <a:srgbClr val="1F4D2E"/>
                </a:solidFill>
                <a:latin typeface="Cambria" pitchFamily="34" charset="0"/>
                <a:ea typeface="Cambria" pitchFamily="34" charset="-122"/>
                <a:cs typeface="Cambria" pitchFamily="34" charset="-120"/>
              </a:rPr>
              <a:t>Late admission</a:t>
            </a:r>
            <a:endParaRPr lang="en-US" sz="1550" dirty="0"/>
          </a:p>
        </p:txBody>
      </p:sp>
      <p:sp>
        <p:nvSpPr>
          <p:cNvPr id="19" name="Text 17"/>
          <p:cNvSpPr txBox="1"/>
          <p:nvPr/>
        </p:nvSpPr>
        <p:spPr>
          <a:xfrm>
            <a:off x="1371600" y="3950208"/>
            <a:ext cx="6995160" cy="438912"/>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If admitted after 5 weeks but before the mid term, a special mid term exam is held. Admission after the mid term is moved to the next session.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Absent for two weeks in a row</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Missing all classes of all courses for two weeks is very serious</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02920" y="1371600"/>
            <a:ext cx="3886200" cy="2011680"/>
          </a:xfrm>
          <a:prstGeom prst="roundRect">
            <a:avLst>
              <a:gd name="adj" fmla="val 4091"/>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6" name="Text 4"/>
          <p:cNvSpPr txBox="1"/>
          <p:nvPr/>
        </p:nvSpPr>
        <p:spPr>
          <a:xfrm>
            <a:off x="777240" y="1554480"/>
            <a:ext cx="3520440" cy="292608"/>
          </a:xfrm>
          <a:prstGeom prst="rect">
            <a:avLst/>
          </a:prstGeom>
          <a:noFill/>
          <a:ln/>
        </p:spPr>
        <p:txBody>
          <a:bodyPr wrap="square" lIns="0" tIns="0" rIns="0" bIns="0" rtlCol="0" anchor="ctr"/>
          <a:lstStyle/>
          <a:p>
            <a:pPr indent="0" marL="0">
              <a:buNone/>
            </a:pPr>
            <a:r>
              <a:rPr lang="en-US" sz="1300" b="1" spc="100" kern="0" dirty="0">
                <a:solidFill>
                  <a:srgbClr val="E0A526"/>
                </a:solidFill>
                <a:latin typeface="Calibri" pitchFamily="34" charset="0"/>
                <a:ea typeface="Calibri" pitchFamily="34" charset="-122"/>
                <a:cs typeface="Calibri" pitchFamily="34" charset="-120"/>
              </a:rPr>
              <a:t>Semester 1</a:t>
            </a:r>
            <a:endParaRPr lang="en-US" sz="1300" dirty="0"/>
          </a:p>
        </p:txBody>
      </p:sp>
      <p:sp>
        <p:nvSpPr>
          <p:cNvPr id="7" name="Text 5"/>
          <p:cNvSpPr txBox="1"/>
          <p:nvPr/>
        </p:nvSpPr>
        <p:spPr>
          <a:xfrm>
            <a:off x="777240" y="1883664"/>
            <a:ext cx="352044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Admission cancelled</a:t>
            </a:r>
            <a:endParaRPr lang="en-US" sz="2200" dirty="0"/>
          </a:p>
        </p:txBody>
      </p:sp>
      <p:sp>
        <p:nvSpPr>
          <p:cNvPr id="8" name="Text 6"/>
          <p:cNvSpPr txBox="1"/>
          <p:nvPr/>
        </p:nvSpPr>
        <p:spPr>
          <a:xfrm>
            <a:off x="777240" y="2377440"/>
            <a:ext cx="3520440" cy="777240"/>
          </a:xfrm>
          <a:prstGeom prst="rect">
            <a:avLst/>
          </a:prstGeom>
          <a:noFill/>
          <a:ln/>
        </p:spPr>
        <p:txBody>
          <a:bodyPr wrap="square" lIns="0" tIns="0" rIns="0" bIns="0" rtlCol="0" anchor="t"/>
          <a:lstStyle/>
          <a:p>
            <a:pPr indent="0" marL="0">
              <a:lnSpc>
                <a:spcPct val="115000"/>
              </a:lnSpc>
              <a:buNone/>
            </a:pPr>
            <a:r>
              <a:rPr lang="en-US" sz="1300" dirty="0">
                <a:solidFill>
                  <a:srgbClr val="9BBF8A"/>
                </a:solidFill>
                <a:latin typeface="Calibri" pitchFamily="34" charset="0"/>
                <a:ea typeface="Calibri" pitchFamily="34" charset="-122"/>
                <a:cs typeface="Calibri" pitchFamily="34" charset="-120"/>
              </a:rPr>
              <a:t>You may apply for admission again next year, if you meet the conditions.</a:t>
            </a:r>
            <a:endParaRPr lang="en-US" sz="1300" dirty="0"/>
          </a:p>
        </p:txBody>
      </p:sp>
      <p:sp>
        <p:nvSpPr>
          <p:cNvPr id="9" name="Shape 7"/>
          <p:cNvSpPr/>
          <p:nvPr/>
        </p:nvSpPr>
        <p:spPr>
          <a:xfrm>
            <a:off x="4754880" y="1371600"/>
            <a:ext cx="3886200" cy="2011680"/>
          </a:xfrm>
          <a:prstGeom prst="roundRect">
            <a:avLst>
              <a:gd name="adj" fmla="val 4091"/>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0" name="Text 8"/>
          <p:cNvSpPr txBox="1"/>
          <p:nvPr/>
        </p:nvSpPr>
        <p:spPr>
          <a:xfrm>
            <a:off x="5029200" y="1554480"/>
            <a:ext cx="3520440" cy="292608"/>
          </a:xfrm>
          <a:prstGeom prst="rect">
            <a:avLst/>
          </a:prstGeom>
          <a:noFill/>
          <a:ln/>
        </p:spPr>
        <p:txBody>
          <a:bodyPr wrap="square" lIns="0" tIns="0" rIns="0" bIns="0" rtlCol="0" anchor="ctr"/>
          <a:lstStyle/>
          <a:p>
            <a:pPr indent="0" marL="0">
              <a:buNone/>
            </a:pPr>
            <a:r>
              <a:rPr lang="en-US" sz="1300" b="1" spc="100" kern="0" dirty="0">
                <a:solidFill>
                  <a:srgbClr val="2F7A47"/>
                </a:solidFill>
                <a:latin typeface="Calibri" pitchFamily="34" charset="0"/>
                <a:ea typeface="Calibri" pitchFamily="34" charset="-122"/>
                <a:cs typeface="Calibri" pitchFamily="34" charset="-120"/>
              </a:rPr>
              <a:t>Semester 2 onwards</a:t>
            </a:r>
            <a:endParaRPr lang="en-US" sz="1300" dirty="0"/>
          </a:p>
        </p:txBody>
      </p:sp>
      <p:sp>
        <p:nvSpPr>
          <p:cNvPr id="11" name="Text 9"/>
          <p:cNvSpPr txBox="1"/>
          <p:nvPr/>
        </p:nvSpPr>
        <p:spPr>
          <a:xfrm>
            <a:off x="5029200" y="1883664"/>
            <a:ext cx="3520440" cy="411480"/>
          </a:xfrm>
          <a:prstGeom prst="rect">
            <a:avLst/>
          </a:prstGeom>
          <a:noFill/>
          <a:ln/>
        </p:spPr>
        <p:txBody>
          <a:bodyPr wrap="square" lIns="0" tIns="0" rIns="0" bIns="0" rtlCol="0" anchor="ctr"/>
          <a:lstStyle/>
          <a:p>
            <a:pPr indent="0" marL="0">
              <a:buNone/>
            </a:pPr>
            <a:r>
              <a:rPr lang="en-US" sz="2200" b="1" dirty="0">
                <a:solidFill>
                  <a:srgbClr val="1F4D2E"/>
                </a:solidFill>
                <a:latin typeface="Cambria" pitchFamily="34" charset="0"/>
                <a:ea typeface="Cambria" pitchFamily="34" charset="-122"/>
                <a:cs typeface="Cambria" pitchFamily="34" charset="-120"/>
              </a:rPr>
              <a:t>Semester freezed</a:t>
            </a:r>
            <a:endParaRPr lang="en-US" sz="2200" dirty="0"/>
          </a:p>
        </p:txBody>
      </p:sp>
      <p:sp>
        <p:nvSpPr>
          <p:cNvPr id="12" name="Text 10"/>
          <p:cNvSpPr txBox="1"/>
          <p:nvPr/>
        </p:nvSpPr>
        <p:spPr>
          <a:xfrm>
            <a:off x="5029200" y="2377440"/>
            <a:ext cx="3520440" cy="777240"/>
          </a:xfrm>
          <a:prstGeom prst="rect">
            <a:avLst/>
          </a:prstGeom>
          <a:noFill/>
          <a:ln/>
        </p:spPr>
        <p:txBody>
          <a:bodyPr wrap="square" lIns="0" tIns="0" rIns="0" bIns="0" rtlCol="0" anchor="t"/>
          <a:lstStyle/>
          <a:p>
            <a:pPr indent="0" marL="0">
              <a:lnSpc>
                <a:spcPct val="115000"/>
              </a:lnSpc>
              <a:buNone/>
            </a:pPr>
            <a:r>
              <a:rPr lang="en-US" sz="1300" dirty="0">
                <a:solidFill>
                  <a:srgbClr val="5F6F66"/>
                </a:solidFill>
                <a:latin typeface="Calibri" pitchFamily="34" charset="0"/>
                <a:ea typeface="Calibri" pitchFamily="34" charset="-122"/>
                <a:cs typeface="Calibri" pitchFamily="34" charset="-120"/>
              </a:rPr>
              <a:t>You cannot continue the session and must repeat the same semester with your junior batch.</a:t>
            </a:r>
            <a:endParaRPr lang="en-US" sz="1300" dirty="0"/>
          </a:p>
        </p:txBody>
      </p:sp>
      <p:sp>
        <p:nvSpPr>
          <p:cNvPr id="13" name="Text 11"/>
          <p:cNvSpPr txBox="1"/>
          <p:nvPr/>
        </p:nvSpPr>
        <p:spPr>
          <a:xfrm>
            <a:off x="502920" y="3611880"/>
            <a:ext cx="8138160" cy="640080"/>
          </a:xfrm>
          <a:prstGeom prst="rect">
            <a:avLst/>
          </a:prstGeom>
          <a:noFill/>
          <a:ln/>
        </p:spPr>
        <p:txBody>
          <a:bodyPr wrap="square" lIns="0" tIns="0" rIns="0" bIns="0" rtlCol="0" anchor="t"/>
          <a:lstStyle/>
          <a:p>
            <a:pPr indent="0" marL="0">
              <a:buNone/>
            </a:pPr>
            <a:r>
              <a:rPr lang="en-US" sz="1350" i="1" dirty="0">
                <a:solidFill>
                  <a:srgbClr val="1F4D2E"/>
                </a:solidFill>
                <a:latin typeface="Calibri" pitchFamily="34" charset="0"/>
                <a:ea typeface="Calibri" pitchFamily="34" charset="-122"/>
                <a:cs typeface="Calibri" pitchFamily="34" charset="-120"/>
              </a:rPr>
              <a:t>Also note: admission is cancelled if a student does not attend a single lecture during the first four weeks of the semester.</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Attendance: numbers to remember</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Keep these five figures in mind all semester</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02920" y="1463040"/>
            <a:ext cx="1466698" cy="1920240"/>
          </a:xfrm>
          <a:prstGeom prst="roundRect">
            <a:avLst>
              <a:gd name="adj" fmla="val 5611"/>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6" name="Text 4"/>
          <p:cNvSpPr txBox="1"/>
          <p:nvPr/>
        </p:nvSpPr>
        <p:spPr>
          <a:xfrm>
            <a:off x="502920" y="1645920"/>
            <a:ext cx="1466698" cy="54864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75%</a:t>
            </a:r>
            <a:endParaRPr lang="en-US" sz="3000" dirty="0"/>
          </a:p>
        </p:txBody>
      </p:sp>
      <p:sp>
        <p:nvSpPr>
          <p:cNvPr id="7" name="Text 5"/>
          <p:cNvSpPr txBox="1"/>
          <p:nvPr/>
        </p:nvSpPr>
        <p:spPr>
          <a:xfrm>
            <a:off x="630936" y="2267712"/>
            <a:ext cx="1210666" cy="960120"/>
          </a:xfrm>
          <a:prstGeom prst="rect">
            <a:avLst/>
          </a:prstGeom>
          <a:noFill/>
          <a:ln/>
        </p:spPr>
        <p:txBody>
          <a:bodyPr wrap="square" lIns="0" tIns="0" rIns="0" bIns="0" rtlCol="0" anchor="t"/>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minimum attendance in every course</a:t>
            </a:r>
            <a:endParaRPr lang="en-US" sz="1150" dirty="0"/>
          </a:p>
        </p:txBody>
      </p:sp>
      <p:sp>
        <p:nvSpPr>
          <p:cNvPr id="8" name="Shape 6"/>
          <p:cNvSpPr/>
          <p:nvPr/>
        </p:nvSpPr>
        <p:spPr>
          <a:xfrm>
            <a:off x="2170786" y="1463040"/>
            <a:ext cx="1466698" cy="1920240"/>
          </a:xfrm>
          <a:prstGeom prst="roundRect">
            <a:avLst>
              <a:gd name="adj" fmla="val 5611"/>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9" name="Text 7"/>
          <p:cNvSpPr txBox="1"/>
          <p:nvPr/>
        </p:nvSpPr>
        <p:spPr>
          <a:xfrm>
            <a:off x="2170786" y="1645920"/>
            <a:ext cx="1466698" cy="548640"/>
          </a:xfrm>
          <a:prstGeom prst="rect">
            <a:avLst/>
          </a:prstGeom>
          <a:noFill/>
          <a:ln/>
        </p:spPr>
        <p:txBody>
          <a:bodyPr wrap="square" lIns="0" tIns="0" rIns="0" bIns="0" rtlCol="0" anchor="ctr"/>
          <a:lstStyle/>
          <a:p>
            <a:pPr algn="ctr" indent="0" marL="0">
              <a:buNone/>
            </a:pPr>
            <a:r>
              <a:rPr lang="en-US" sz="3000" b="1" dirty="0">
                <a:solidFill>
                  <a:srgbClr val="1F4D2E"/>
                </a:solidFill>
                <a:latin typeface="Cambria" pitchFamily="34" charset="0"/>
                <a:ea typeface="Cambria" pitchFamily="34" charset="-122"/>
                <a:cs typeface="Cambria" pitchFamily="34" charset="-120"/>
              </a:rPr>
              <a:t>25%</a:t>
            </a:r>
            <a:endParaRPr lang="en-US" sz="3000" dirty="0"/>
          </a:p>
        </p:txBody>
      </p:sp>
      <p:sp>
        <p:nvSpPr>
          <p:cNvPr id="10" name="Text 8"/>
          <p:cNvSpPr txBox="1"/>
          <p:nvPr/>
        </p:nvSpPr>
        <p:spPr>
          <a:xfrm>
            <a:off x="2298802" y="2267712"/>
            <a:ext cx="1210666" cy="960120"/>
          </a:xfrm>
          <a:prstGeom prst="rect">
            <a:avLst/>
          </a:prstGeom>
          <a:noFill/>
          <a:ln/>
        </p:spPr>
        <p:txBody>
          <a:bodyPr wrap="square" lIns="0" tIns="0" rIns="0" bIns="0" rtlCol="0" anchor="t"/>
          <a:lstStyle/>
          <a:p>
            <a:pPr algn="ctr" indent="0" marL="0">
              <a:lnSpc>
                <a:spcPct val="115000"/>
              </a:lnSpc>
              <a:buNone/>
            </a:pPr>
            <a:r>
              <a:rPr lang="en-US" sz="1150" dirty="0">
                <a:solidFill>
                  <a:srgbClr val="5F6F66"/>
                </a:solidFill>
                <a:latin typeface="Calibri" pitchFamily="34" charset="0"/>
                <a:ea typeface="Calibri" pitchFamily="34" charset="-122"/>
                <a:cs typeface="Calibri" pitchFamily="34" charset="-120"/>
              </a:rPr>
              <a:t>maximum absence allowed</a:t>
            </a:r>
            <a:endParaRPr lang="en-US" sz="1150" dirty="0"/>
          </a:p>
        </p:txBody>
      </p:sp>
      <p:sp>
        <p:nvSpPr>
          <p:cNvPr id="11" name="Shape 9"/>
          <p:cNvSpPr/>
          <p:nvPr/>
        </p:nvSpPr>
        <p:spPr>
          <a:xfrm>
            <a:off x="3838651" y="1463040"/>
            <a:ext cx="1466698" cy="1920240"/>
          </a:xfrm>
          <a:prstGeom prst="roundRect">
            <a:avLst>
              <a:gd name="adj" fmla="val 5611"/>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2" name="Text 10"/>
          <p:cNvSpPr txBox="1"/>
          <p:nvPr/>
        </p:nvSpPr>
        <p:spPr>
          <a:xfrm>
            <a:off x="3838651" y="1645920"/>
            <a:ext cx="1466698" cy="548640"/>
          </a:xfrm>
          <a:prstGeom prst="rect">
            <a:avLst/>
          </a:prstGeom>
          <a:noFill/>
          <a:ln/>
        </p:spPr>
        <p:txBody>
          <a:bodyPr wrap="square" lIns="0" tIns="0" rIns="0" bIns="0" rtlCol="0" anchor="ctr"/>
          <a:lstStyle/>
          <a:p>
            <a:pPr algn="ctr" indent="0" marL="0">
              <a:buNone/>
            </a:pPr>
            <a:r>
              <a:rPr lang="en-US" sz="3000" b="1" dirty="0">
                <a:solidFill>
                  <a:srgbClr val="1F4D2E"/>
                </a:solidFill>
                <a:latin typeface="Cambria" pitchFamily="34" charset="0"/>
                <a:ea typeface="Cambria" pitchFamily="34" charset="-122"/>
                <a:cs typeface="Cambria" pitchFamily="34" charset="-120"/>
              </a:rPr>
              <a:t>5%</a:t>
            </a:r>
            <a:endParaRPr lang="en-US" sz="3000" dirty="0"/>
          </a:p>
        </p:txBody>
      </p:sp>
      <p:sp>
        <p:nvSpPr>
          <p:cNvPr id="13" name="Text 11"/>
          <p:cNvSpPr txBox="1"/>
          <p:nvPr/>
        </p:nvSpPr>
        <p:spPr>
          <a:xfrm>
            <a:off x="3966667" y="2267712"/>
            <a:ext cx="1210666" cy="960120"/>
          </a:xfrm>
          <a:prstGeom prst="rect">
            <a:avLst/>
          </a:prstGeom>
          <a:noFill/>
          <a:ln/>
        </p:spPr>
        <p:txBody>
          <a:bodyPr wrap="square" lIns="0" tIns="0" rIns="0" bIns="0" rtlCol="0" anchor="t"/>
          <a:lstStyle/>
          <a:p>
            <a:pPr algn="ctr" indent="0" marL="0">
              <a:lnSpc>
                <a:spcPct val="115000"/>
              </a:lnSpc>
              <a:buNone/>
            </a:pPr>
            <a:r>
              <a:rPr lang="en-US" sz="1150" dirty="0">
                <a:solidFill>
                  <a:srgbClr val="5F6F66"/>
                </a:solidFill>
                <a:latin typeface="Calibri" pitchFamily="34" charset="0"/>
                <a:ea typeface="Calibri" pitchFamily="34" charset="-122"/>
                <a:cs typeface="Calibri" pitchFamily="34" charset="-120"/>
              </a:rPr>
              <a:t>extra relaxation by the HoD</a:t>
            </a:r>
            <a:endParaRPr lang="en-US" sz="1150" dirty="0"/>
          </a:p>
        </p:txBody>
      </p:sp>
      <p:sp>
        <p:nvSpPr>
          <p:cNvPr id="14" name="Shape 12"/>
          <p:cNvSpPr/>
          <p:nvPr/>
        </p:nvSpPr>
        <p:spPr>
          <a:xfrm>
            <a:off x="5506517" y="1463040"/>
            <a:ext cx="1466698" cy="1920240"/>
          </a:xfrm>
          <a:prstGeom prst="roundRect">
            <a:avLst>
              <a:gd name="adj" fmla="val 5611"/>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5" name="Text 13"/>
          <p:cNvSpPr txBox="1"/>
          <p:nvPr/>
        </p:nvSpPr>
        <p:spPr>
          <a:xfrm>
            <a:off x="5506517" y="1645920"/>
            <a:ext cx="1466698" cy="548640"/>
          </a:xfrm>
          <a:prstGeom prst="rect">
            <a:avLst/>
          </a:prstGeom>
          <a:noFill/>
          <a:ln/>
        </p:spPr>
        <p:txBody>
          <a:bodyPr wrap="square" lIns="0" tIns="0" rIns="0" bIns="0" rtlCol="0" anchor="ctr"/>
          <a:lstStyle/>
          <a:p>
            <a:pPr algn="ctr" indent="0" marL="0">
              <a:buNone/>
            </a:pPr>
            <a:r>
              <a:rPr lang="en-US" sz="2400" b="1" dirty="0">
                <a:solidFill>
                  <a:srgbClr val="1F4D2E"/>
                </a:solidFill>
                <a:latin typeface="Cambria" pitchFamily="34" charset="0"/>
                <a:ea typeface="Cambria" pitchFamily="34" charset="-122"/>
                <a:cs typeface="Cambria" pitchFamily="34" charset="-120"/>
              </a:rPr>
              <a:t>2,000</a:t>
            </a:r>
            <a:endParaRPr lang="en-US" sz="2400" dirty="0"/>
          </a:p>
        </p:txBody>
      </p:sp>
      <p:sp>
        <p:nvSpPr>
          <p:cNvPr id="16" name="Text 14"/>
          <p:cNvSpPr txBox="1"/>
          <p:nvPr/>
        </p:nvSpPr>
        <p:spPr>
          <a:xfrm>
            <a:off x="5634533" y="2267712"/>
            <a:ext cx="1210666" cy="960120"/>
          </a:xfrm>
          <a:prstGeom prst="rect">
            <a:avLst/>
          </a:prstGeom>
          <a:noFill/>
          <a:ln/>
        </p:spPr>
        <p:txBody>
          <a:bodyPr wrap="square" lIns="0" tIns="0" rIns="0" bIns="0" rtlCol="0" anchor="t"/>
          <a:lstStyle/>
          <a:p>
            <a:pPr algn="ctr" indent="0" marL="0">
              <a:lnSpc>
                <a:spcPct val="115000"/>
              </a:lnSpc>
              <a:buNone/>
            </a:pPr>
            <a:r>
              <a:rPr lang="en-US" sz="1150" dirty="0">
                <a:solidFill>
                  <a:srgbClr val="5F6F66"/>
                </a:solidFill>
                <a:latin typeface="Calibri" pitchFamily="34" charset="0"/>
                <a:ea typeface="Calibri" pitchFamily="34" charset="-122"/>
                <a:cs typeface="Calibri" pitchFamily="34" charset="-120"/>
              </a:rPr>
              <a:t>rupees fine per short course</a:t>
            </a:r>
            <a:endParaRPr lang="en-US" sz="1150" dirty="0"/>
          </a:p>
        </p:txBody>
      </p:sp>
      <p:sp>
        <p:nvSpPr>
          <p:cNvPr id="17" name="Shape 15"/>
          <p:cNvSpPr/>
          <p:nvPr/>
        </p:nvSpPr>
        <p:spPr>
          <a:xfrm>
            <a:off x="7174382" y="1463040"/>
            <a:ext cx="1466698" cy="1920240"/>
          </a:xfrm>
          <a:prstGeom prst="roundRect">
            <a:avLst>
              <a:gd name="adj" fmla="val 5611"/>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8" name="Text 16"/>
          <p:cNvSpPr txBox="1"/>
          <p:nvPr/>
        </p:nvSpPr>
        <p:spPr>
          <a:xfrm>
            <a:off x="7174382" y="1645920"/>
            <a:ext cx="1466698" cy="548640"/>
          </a:xfrm>
          <a:prstGeom prst="rect">
            <a:avLst/>
          </a:prstGeom>
          <a:noFill/>
          <a:ln/>
        </p:spPr>
        <p:txBody>
          <a:bodyPr wrap="square" lIns="0" tIns="0" rIns="0" bIns="0" rtlCol="0" anchor="ctr"/>
          <a:lstStyle/>
          <a:p>
            <a:pPr algn="ctr" indent="0" marL="0">
              <a:buNone/>
            </a:pPr>
            <a:r>
              <a:rPr lang="en-US" sz="2400" b="1" dirty="0">
                <a:solidFill>
                  <a:srgbClr val="1F4D2E"/>
                </a:solidFill>
                <a:latin typeface="Cambria" pitchFamily="34" charset="0"/>
                <a:ea typeface="Cambria" pitchFamily="34" charset="-122"/>
                <a:cs typeface="Cambria" pitchFamily="34" charset="-120"/>
              </a:rPr>
              <a:t>5,000</a:t>
            </a:r>
            <a:endParaRPr lang="en-US" sz="2400" dirty="0"/>
          </a:p>
        </p:txBody>
      </p:sp>
      <p:sp>
        <p:nvSpPr>
          <p:cNvPr id="19" name="Text 17"/>
          <p:cNvSpPr txBox="1"/>
          <p:nvPr/>
        </p:nvSpPr>
        <p:spPr>
          <a:xfrm>
            <a:off x="7302398" y="2267712"/>
            <a:ext cx="1210666" cy="960120"/>
          </a:xfrm>
          <a:prstGeom prst="rect">
            <a:avLst/>
          </a:prstGeom>
          <a:noFill/>
          <a:ln/>
        </p:spPr>
        <p:txBody>
          <a:bodyPr wrap="square" lIns="0" tIns="0" rIns="0" bIns="0" rtlCol="0" anchor="t"/>
          <a:lstStyle/>
          <a:p>
            <a:pPr algn="ctr" indent="0" marL="0">
              <a:lnSpc>
                <a:spcPct val="115000"/>
              </a:lnSpc>
              <a:buNone/>
            </a:pPr>
            <a:r>
              <a:rPr lang="en-US" sz="1150" dirty="0">
                <a:solidFill>
                  <a:srgbClr val="5F6F66"/>
                </a:solidFill>
                <a:latin typeface="Calibri" pitchFamily="34" charset="0"/>
                <a:ea typeface="Calibri" pitchFamily="34" charset="-122"/>
                <a:cs typeface="Calibri" pitchFamily="34" charset="-120"/>
              </a:rPr>
              <a:t>rupees maximum fine per semester</a:t>
            </a:r>
            <a:endParaRPr lang="en-US" sz="1150" dirty="0"/>
          </a:p>
        </p:txBody>
      </p:sp>
      <p:sp>
        <p:nvSpPr>
          <p:cNvPr id="20" name="Text 18"/>
          <p:cNvSpPr txBox="1"/>
          <p:nvPr/>
        </p:nvSpPr>
        <p:spPr>
          <a:xfrm>
            <a:off x="502920" y="3749040"/>
            <a:ext cx="8138160" cy="457200"/>
          </a:xfrm>
          <a:prstGeom prst="rect">
            <a:avLst/>
          </a:prstGeom>
          <a:noFill/>
          <a:ln/>
        </p:spPr>
        <p:txBody>
          <a:bodyPr wrap="square" lIns="0" tIns="0" rIns="0" bIns="0" rtlCol="0" anchor="ctr"/>
          <a:lstStyle/>
          <a:p>
            <a:pPr indent="0" marL="0">
              <a:buNone/>
            </a:pPr>
            <a:r>
              <a:rPr lang="en-US" sz="1350" i="1" dirty="0">
                <a:solidFill>
                  <a:srgbClr val="1F4D2E"/>
                </a:solidFill>
                <a:latin typeface="Calibri" pitchFamily="34" charset="0"/>
                <a:ea typeface="Calibri" pitchFamily="34" charset="-122"/>
                <a:cs typeface="Calibri" pitchFamily="34" charset="-120"/>
              </a:rPr>
              <a:t>Your monthly attendance record is displayed on the department notice board - check it regularly.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4D2E"/>
        </a:solidFill>
      </p:bgPr>
    </p:bg>
    <p:spTree>
      <p:nvGrpSpPr>
        <p:cNvPr id="1" name=""/>
        <p:cNvGrpSpPr/>
        <p:nvPr/>
      </p:nvGrpSpPr>
      <p:grpSpPr>
        <a:xfrm>
          <a:off x="0" y="0"/>
          <a:ext cx="0" cy="0"/>
          <a:chOff x="0" y="0"/>
          <a:chExt cx="0" cy="0"/>
        </a:xfrm>
      </p:grpSpPr>
      <p:sp>
        <p:nvSpPr>
          <p:cNvPr id="2" name="Text 0"/>
          <p:cNvSpPr txBox="1"/>
          <p:nvPr/>
        </p:nvSpPr>
        <p:spPr>
          <a:xfrm>
            <a:off x="502920" y="1417320"/>
            <a:ext cx="8138160" cy="310896"/>
          </a:xfrm>
          <a:prstGeom prst="rect">
            <a:avLst/>
          </a:prstGeom>
          <a:noFill/>
          <a:ln/>
        </p:spPr>
        <p:txBody>
          <a:bodyPr wrap="square" lIns="0" tIns="0" rIns="0" bIns="0" rtlCol="0" anchor="ctr"/>
          <a:lstStyle/>
          <a:p>
            <a:pPr indent="0" marL="0">
              <a:buNone/>
            </a:pPr>
            <a:r>
              <a:rPr lang="en-US" sz="1500" b="1" spc="200" kern="0" dirty="0">
                <a:solidFill>
                  <a:srgbClr val="E0A526"/>
                </a:solidFill>
                <a:latin typeface="Calibri" pitchFamily="34" charset="0"/>
                <a:ea typeface="Calibri" pitchFamily="34" charset="-122"/>
                <a:cs typeface="Calibri" pitchFamily="34" charset="-120"/>
              </a:rPr>
              <a:t>PART TWO</a:t>
            </a:r>
            <a:endParaRPr lang="en-US" sz="1500" dirty="0"/>
          </a:p>
        </p:txBody>
      </p:sp>
      <p:sp>
        <p:nvSpPr>
          <p:cNvPr id="3" name="Text 1"/>
          <p:cNvSpPr txBox="1"/>
          <p:nvPr/>
        </p:nvSpPr>
        <p:spPr>
          <a:xfrm>
            <a:off x="502920" y="1783080"/>
            <a:ext cx="576072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Evaluation &amp; Exams</a:t>
            </a:r>
            <a:endParaRPr lang="en-US" sz="4000" dirty="0"/>
          </a:p>
        </p:txBody>
      </p:sp>
      <p:sp>
        <p:nvSpPr>
          <p:cNvPr id="4" name="Text 2"/>
          <p:cNvSpPr txBox="1"/>
          <p:nvPr/>
        </p:nvSpPr>
        <p:spPr>
          <a:xfrm>
            <a:off x="502920" y="2834640"/>
            <a:ext cx="5760720" cy="914400"/>
          </a:xfrm>
          <a:prstGeom prst="rect">
            <a:avLst/>
          </a:prstGeom>
          <a:noFill/>
          <a:ln/>
        </p:spPr>
        <p:txBody>
          <a:bodyPr wrap="square" lIns="0" tIns="0" rIns="0" bIns="0" rtlCol="0" anchor="ctr"/>
          <a:lstStyle/>
          <a:p>
            <a:pPr indent="0" marL="0">
              <a:buNone/>
            </a:pPr>
            <a:r>
              <a:rPr lang="en-US" sz="1500" dirty="0">
                <a:solidFill>
                  <a:srgbClr val="9BBF8A"/>
                </a:solidFill>
                <a:latin typeface="Calibri" pitchFamily="34" charset="0"/>
                <a:ea typeface="Calibri" pitchFamily="34" charset="-122"/>
                <a:cs typeface="Calibri" pitchFamily="34" charset="-120"/>
              </a:rPr>
              <a:t>Sections 10 to 13 of the Semester Regulations</a:t>
            </a:r>
            <a:endParaRPr lang="en-US" sz="1500" dirty="0"/>
          </a:p>
        </p:txBody>
      </p:sp>
      <p:sp>
        <p:nvSpPr>
          <p:cNvPr id="5" name="Shape 3"/>
          <p:cNvSpPr/>
          <p:nvPr/>
        </p:nvSpPr>
        <p:spPr>
          <a:xfrm>
            <a:off x="6720840" y="1691640"/>
            <a:ext cx="960120" cy="960120"/>
          </a:xfrm>
          <a:prstGeom prst="ellipse">
            <a:avLst/>
          </a:prstGeom>
          <a:solidFill>
            <a:srgbClr val="2F7A47"/>
          </a:solidFill>
          <a:ln w="12700">
            <a:solidFill>
              <a:srgbClr val="2F7A47"/>
            </a:solidFill>
            <a:prstDash val="solid"/>
          </a:ln>
        </p:spPr>
      </p:sp>
      <p:sp>
        <p:nvSpPr>
          <p:cNvPr id="6" name="Text 4"/>
          <p:cNvSpPr txBox="1"/>
          <p:nvPr/>
        </p:nvSpPr>
        <p:spPr>
          <a:xfrm>
            <a:off x="6720840" y="1691640"/>
            <a:ext cx="960120" cy="960120"/>
          </a:xfrm>
          <a:prstGeom prst="rect">
            <a:avLst/>
          </a:prstGeom>
          <a:noFill/>
          <a:ln/>
        </p:spPr>
        <p:txBody>
          <a:bodyPr wrap="square" lIns="0" tIns="0" rIns="0" bIns="0" rtlCol="0" anchor="ctr"/>
          <a:lstStyle/>
          <a:p>
            <a:pPr algn="ctr" indent="0" marL="0">
              <a:buNone/>
            </a:pPr>
            <a:endParaRPr lang="en-US" sz="1600" dirty="0"/>
          </a:p>
        </p:txBody>
      </p:sp>
      <p:sp>
        <p:nvSpPr>
          <p:cNvPr id="7" name="Shape 5"/>
          <p:cNvSpPr/>
          <p:nvPr/>
        </p:nvSpPr>
        <p:spPr>
          <a:xfrm>
            <a:off x="7360920" y="2514600"/>
            <a:ext cx="685800" cy="685800"/>
          </a:xfrm>
          <a:prstGeom prst="ellipse">
            <a:avLst/>
          </a:prstGeom>
          <a:solidFill>
            <a:srgbClr val="9BBF8A"/>
          </a:solidFill>
          <a:ln w="12700">
            <a:solidFill>
              <a:srgbClr val="9BBF8A"/>
            </a:solidFill>
            <a:prstDash val="solid"/>
          </a:ln>
        </p:spPr>
      </p:sp>
      <p:sp>
        <p:nvSpPr>
          <p:cNvPr id="8" name="Text 6"/>
          <p:cNvSpPr txBox="1"/>
          <p:nvPr/>
        </p:nvSpPr>
        <p:spPr>
          <a:xfrm>
            <a:off x="7360920" y="2514600"/>
            <a:ext cx="685800" cy="685800"/>
          </a:xfrm>
          <a:prstGeom prst="rect">
            <a:avLst/>
          </a:prstGeom>
          <a:noFill/>
          <a:ln/>
        </p:spPr>
        <p:txBody>
          <a:bodyPr wrap="square" lIns="0" tIns="0" rIns="0" bIns="0" rtlCol="0" anchor="ctr"/>
          <a:lstStyle/>
          <a:p>
            <a:pPr algn="ctr" indent="0" marL="0">
              <a:buNone/>
            </a:pPr>
            <a:endParaRPr lang="en-US" sz="1600" dirty="0"/>
          </a:p>
        </p:txBody>
      </p:sp>
      <p:sp>
        <p:nvSpPr>
          <p:cNvPr id="9" name="Shape 7"/>
          <p:cNvSpPr/>
          <p:nvPr/>
        </p:nvSpPr>
        <p:spPr>
          <a:xfrm>
            <a:off x="6446520" y="2880360"/>
            <a:ext cx="457200" cy="457200"/>
          </a:xfrm>
          <a:prstGeom prst="ellipse">
            <a:avLst/>
          </a:prstGeom>
          <a:solidFill>
            <a:srgbClr val="E0A526"/>
          </a:solidFill>
          <a:ln w="12700">
            <a:solidFill>
              <a:srgbClr val="E0A526"/>
            </a:solidFill>
            <a:prstDash val="solid"/>
          </a:ln>
        </p:spPr>
      </p:sp>
      <p:sp>
        <p:nvSpPr>
          <p:cNvPr id="10" name="Text 8"/>
          <p:cNvSpPr txBox="1"/>
          <p:nvPr/>
        </p:nvSpPr>
        <p:spPr>
          <a:xfrm>
            <a:off x="6446520" y="2880360"/>
            <a:ext cx="457200" cy="457200"/>
          </a:xfrm>
          <a:prstGeom prst="rect">
            <a:avLst/>
          </a:prstGeom>
          <a:noFill/>
          <a:ln/>
        </p:spPr>
        <p:txBody>
          <a:bodyPr wrap="square" lIns="0" tIns="0" rIns="0" bIns="0" rtlCol="0" anchor="ctr"/>
          <a:lstStyle/>
          <a:p>
            <a:pPr algn="ctr" indent="0" marL="0">
              <a:buNone/>
            </a:pP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How your marks are divided</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Every course is marked out of 100</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8</a:t>
            </a:r>
            <a:endParaRPr lang="en-US" sz="1000" dirty="0"/>
          </a:p>
        </p:txBody>
      </p:sp>
      <p:graphicFrame>
        <p:nvGraphicFramePr>
          <p:cNvPr id="5" name="Chart 0" descr=""/>
          <p:cNvGraphicFramePr/>
          <p:nvPr/>
        </p:nvGraphicFramePr>
        <p:xfrm>
          <a:off x="320040" y="1234440"/>
          <a:ext cx="374904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1600200" y="2487168"/>
            <a:ext cx="1188720" cy="457200"/>
          </a:xfrm>
          <a:prstGeom prst="rect">
            <a:avLst/>
          </a:prstGeom>
          <a:noFill/>
          <a:ln/>
        </p:spPr>
        <p:txBody>
          <a:bodyPr wrap="square" lIns="0" tIns="0" rIns="0" bIns="0" rtlCol="0" anchor="ctr"/>
          <a:lstStyle/>
          <a:p>
            <a:pPr algn="ctr" indent="0" marL="0">
              <a:buNone/>
            </a:pPr>
            <a:r>
              <a:rPr lang="en-US" sz="2600" b="1" dirty="0">
                <a:solidFill>
                  <a:srgbClr val="1F4D2E"/>
                </a:solidFill>
                <a:latin typeface="Cambria" pitchFamily="34" charset="0"/>
                <a:ea typeface="Cambria" pitchFamily="34" charset="-122"/>
                <a:cs typeface="Cambria" pitchFamily="34" charset="-120"/>
              </a:rPr>
              <a:t>100</a:t>
            </a:r>
            <a:endParaRPr lang="en-US" sz="2600" dirty="0"/>
          </a:p>
        </p:txBody>
      </p:sp>
      <p:sp>
        <p:nvSpPr>
          <p:cNvPr id="7" name="Text 4"/>
          <p:cNvSpPr txBox="1"/>
          <p:nvPr/>
        </p:nvSpPr>
        <p:spPr>
          <a:xfrm>
            <a:off x="1600200" y="2907792"/>
            <a:ext cx="1188720" cy="237744"/>
          </a:xfrm>
          <a:prstGeom prst="rect">
            <a:avLst/>
          </a:prstGeom>
          <a:noFill/>
          <a:ln/>
        </p:spPr>
        <p:txBody>
          <a:bodyPr wrap="square" lIns="0" tIns="0" rIns="0" bIns="0" rtlCol="0" anchor="ctr"/>
          <a:lstStyle/>
          <a:p>
            <a:pPr algn="ctr" indent="0" marL="0">
              <a:buNone/>
            </a:pPr>
            <a:r>
              <a:rPr lang="en-US" sz="1100" dirty="0">
                <a:solidFill>
                  <a:srgbClr val="5F6F66"/>
                </a:solidFill>
                <a:latin typeface="Calibri" pitchFamily="34" charset="0"/>
                <a:ea typeface="Calibri" pitchFamily="34" charset="-122"/>
                <a:cs typeface="Calibri" pitchFamily="34" charset="-120"/>
              </a:rPr>
              <a:t>marks</a:t>
            </a:r>
            <a:endParaRPr lang="en-US" sz="1100" dirty="0"/>
          </a:p>
        </p:txBody>
      </p:sp>
      <p:sp>
        <p:nvSpPr>
          <p:cNvPr id="8" name="Shape 5"/>
          <p:cNvSpPr/>
          <p:nvPr/>
        </p:nvSpPr>
        <p:spPr>
          <a:xfrm>
            <a:off x="4343400" y="1298448"/>
            <a:ext cx="658368" cy="365760"/>
          </a:xfrm>
          <a:prstGeom prst="roundRect">
            <a:avLst>
              <a:gd name="adj" fmla="val 15000"/>
            </a:avLst>
          </a:prstGeom>
          <a:solidFill>
            <a:srgbClr val="9BBF8A"/>
          </a:solidFill>
          <a:ln w="12700">
            <a:solidFill>
              <a:srgbClr val="9BBF8A"/>
            </a:solidFill>
            <a:prstDash val="solid"/>
          </a:ln>
        </p:spPr>
      </p:sp>
      <p:sp>
        <p:nvSpPr>
          <p:cNvPr id="9" name="Text 6"/>
          <p:cNvSpPr txBox="1"/>
          <p:nvPr/>
        </p:nvSpPr>
        <p:spPr>
          <a:xfrm>
            <a:off x="4343400" y="1298448"/>
            <a:ext cx="658368" cy="365760"/>
          </a:xfrm>
          <a:prstGeom prst="rect">
            <a:avLst/>
          </a:prstGeom>
          <a:noFill/>
          <a:ln/>
        </p:spPr>
        <p:txBody>
          <a:bodyPr wrap="square" lIns="0" tIns="0" rIns="0" bIns="0" rtlCol="0" anchor="ctr"/>
          <a:lstStyle/>
          <a:p>
            <a:pPr algn="ctr" indent="0" marL="0">
              <a:buNone/>
            </a:pPr>
            <a:r>
              <a:rPr lang="en-US" sz="1400" b="1" dirty="0">
                <a:solidFill>
                  <a:srgbClr val="1F4D2E"/>
                </a:solidFill>
                <a:latin typeface="Cambria" pitchFamily="34" charset="0"/>
                <a:ea typeface="Cambria" pitchFamily="34" charset="-122"/>
                <a:cs typeface="Cambria" pitchFamily="34" charset="-120"/>
              </a:rPr>
              <a:t>25%</a:t>
            </a:r>
            <a:endParaRPr lang="en-US" sz="1400" dirty="0"/>
          </a:p>
        </p:txBody>
      </p:sp>
      <p:sp>
        <p:nvSpPr>
          <p:cNvPr id="10" name="Text 7"/>
          <p:cNvSpPr txBox="1"/>
          <p:nvPr/>
        </p:nvSpPr>
        <p:spPr>
          <a:xfrm>
            <a:off x="5148072" y="1280160"/>
            <a:ext cx="3657600" cy="292608"/>
          </a:xfrm>
          <a:prstGeom prst="rect">
            <a:avLst/>
          </a:prstGeom>
          <a:noFill/>
          <a:ln/>
        </p:spPr>
        <p:txBody>
          <a:bodyPr wrap="square" lIns="0" tIns="0" rIns="0" bIns="0" rtlCol="0" anchor="ctr"/>
          <a:lstStyle/>
          <a:p>
            <a:pPr indent="0" marL="0">
              <a:buNone/>
            </a:pPr>
            <a:r>
              <a:rPr lang="en-US" sz="1500" b="1" dirty="0">
                <a:solidFill>
                  <a:srgbClr val="1F4D2E"/>
                </a:solidFill>
                <a:latin typeface="Cambria" pitchFamily="34" charset="0"/>
                <a:ea typeface="Cambria" pitchFamily="34" charset="-122"/>
                <a:cs typeface="Cambria" pitchFamily="34" charset="-120"/>
              </a:rPr>
              <a:t>Sessional activities</a:t>
            </a:r>
            <a:endParaRPr lang="en-US" sz="1500" dirty="0"/>
          </a:p>
        </p:txBody>
      </p:sp>
      <p:sp>
        <p:nvSpPr>
          <p:cNvPr id="11" name="Text 8"/>
          <p:cNvSpPr txBox="1"/>
          <p:nvPr/>
        </p:nvSpPr>
        <p:spPr>
          <a:xfrm>
            <a:off x="5148072" y="1600200"/>
            <a:ext cx="3657600" cy="566928"/>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Home assignments, quizzes and class work. At least one home assignment is required.</a:t>
            </a:r>
            <a:endParaRPr lang="en-US" sz="1250" dirty="0"/>
          </a:p>
        </p:txBody>
      </p:sp>
      <p:sp>
        <p:nvSpPr>
          <p:cNvPr id="12" name="Shape 9"/>
          <p:cNvSpPr/>
          <p:nvPr/>
        </p:nvSpPr>
        <p:spPr>
          <a:xfrm>
            <a:off x="4343400" y="2350008"/>
            <a:ext cx="658368" cy="365760"/>
          </a:xfrm>
          <a:prstGeom prst="roundRect">
            <a:avLst>
              <a:gd name="adj" fmla="val 15000"/>
            </a:avLst>
          </a:prstGeom>
          <a:solidFill>
            <a:srgbClr val="2F7A47"/>
          </a:solidFill>
          <a:ln w="12700">
            <a:solidFill>
              <a:srgbClr val="2F7A47"/>
            </a:solidFill>
            <a:prstDash val="solid"/>
          </a:ln>
        </p:spPr>
      </p:sp>
      <p:sp>
        <p:nvSpPr>
          <p:cNvPr id="13" name="Text 10"/>
          <p:cNvSpPr txBox="1"/>
          <p:nvPr/>
        </p:nvSpPr>
        <p:spPr>
          <a:xfrm>
            <a:off x="4343400" y="2350008"/>
            <a:ext cx="65836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35%</a:t>
            </a:r>
            <a:endParaRPr lang="en-US" sz="1400" dirty="0"/>
          </a:p>
        </p:txBody>
      </p:sp>
      <p:sp>
        <p:nvSpPr>
          <p:cNvPr id="14" name="Text 11"/>
          <p:cNvSpPr txBox="1"/>
          <p:nvPr/>
        </p:nvSpPr>
        <p:spPr>
          <a:xfrm>
            <a:off x="5148072" y="2331720"/>
            <a:ext cx="3657600" cy="292608"/>
          </a:xfrm>
          <a:prstGeom prst="rect">
            <a:avLst/>
          </a:prstGeom>
          <a:noFill/>
          <a:ln/>
        </p:spPr>
        <p:txBody>
          <a:bodyPr wrap="square" lIns="0" tIns="0" rIns="0" bIns="0" rtlCol="0" anchor="ctr"/>
          <a:lstStyle/>
          <a:p>
            <a:pPr indent="0" marL="0">
              <a:buNone/>
            </a:pPr>
            <a:r>
              <a:rPr lang="en-US" sz="1500" b="1" dirty="0">
                <a:solidFill>
                  <a:srgbClr val="1F4D2E"/>
                </a:solidFill>
                <a:latin typeface="Cambria" pitchFamily="34" charset="0"/>
                <a:ea typeface="Cambria" pitchFamily="34" charset="-122"/>
                <a:cs typeface="Cambria" pitchFamily="34" charset="-120"/>
              </a:rPr>
              <a:t>Mid term examination</a:t>
            </a:r>
            <a:endParaRPr lang="en-US" sz="1500" dirty="0"/>
          </a:p>
        </p:txBody>
      </p:sp>
      <p:sp>
        <p:nvSpPr>
          <p:cNvPr id="15" name="Text 12"/>
          <p:cNvSpPr txBox="1"/>
          <p:nvPr/>
        </p:nvSpPr>
        <p:spPr>
          <a:xfrm>
            <a:off x="5148072" y="2651760"/>
            <a:ext cx="3657600" cy="566928"/>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Held after eight weeks of the semester. Paper duration: one and a half hours.</a:t>
            </a:r>
            <a:endParaRPr lang="en-US" sz="1250" dirty="0"/>
          </a:p>
        </p:txBody>
      </p:sp>
      <p:sp>
        <p:nvSpPr>
          <p:cNvPr id="16" name="Shape 13"/>
          <p:cNvSpPr/>
          <p:nvPr/>
        </p:nvSpPr>
        <p:spPr>
          <a:xfrm>
            <a:off x="4343400" y="3401568"/>
            <a:ext cx="658368" cy="365760"/>
          </a:xfrm>
          <a:prstGeom prst="roundRect">
            <a:avLst>
              <a:gd name="adj" fmla="val 15000"/>
            </a:avLst>
          </a:prstGeom>
          <a:solidFill>
            <a:srgbClr val="1F4D2E"/>
          </a:solidFill>
          <a:ln w="12700">
            <a:solidFill>
              <a:srgbClr val="1F4D2E"/>
            </a:solidFill>
            <a:prstDash val="solid"/>
          </a:ln>
        </p:spPr>
      </p:sp>
      <p:sp>
        <p:nvSpPr>
          <p:cNvPr id="17" name="Text 14"/>
          <p:cNvSpPr txBox="1"/>
          <p:nvPr/>
        </p:nvSpPr>
        <p:spPr>
          <a:xfrm>
            <a:off x="4343400" y="3401568"/>
            <a:ext cx="65836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40%</a:t>
            </a:r>
            <a:endParaRPr lang="en-US" sz="1400" dirty="0"/>
          </a:p>
        </p:txBody>
      </p:sp>
      <p:sp>
        <p:nvSpPr>
          <p:cNvPr id="18" name="Text 15"/>
          <p:cNvSpPr txBox="1"/>
          <p:nvPr/>
        </p:nvSpPr>
        <p:spPr>
          <a:xfrm>
            <a:off x="5148072" y="3383280"/>
            <a:ext cx="3657600" cy="292608"/>
          </a:xfrm>
          <a:prstGeom prst="rect">
            <a:avLst/>
          </a:prstGeom>
          <a:noFill/>
          <a:ln/>
        </p:spPr>
        <p:txBody>
          <a:bodyPr wrap="square" lIns="0" tIns="0" rIns="0" bIns="0" rtlCol="0" anchor="ctr"/>
          <a:lstStyle/>
          <a:p>
            <a:pPr indent="0" marL="0">
              <a:buNone/>
            </a:pPr>
            <a:r>
              <a:rPr lang="en-US" sz="1500" b="1" dirty="0">
                <a:solidFill>
                  <a:srgbClr val="1F4D2E"/>
                </a:solidFill>
                <a:latin typeface="Cambria" pitchFamily="34" charset="0"/>
                <a:ea typeface="Cambria" pitchFamily="34" charset="-122"/>
                <a:cs typeface="Cambria" pitchFamily="34" charset="-120"/>
              </a:rPr>
              <a:t>Final term examination</a:t>
            </a:r>
            <a:endParaRPr lang="en-US" sz="1500" dirty="0"/>
          </a:p>
        </p:txBody>
      </p:sp>
      <p:sp>
        <p:nvSpPr>
          <p:cNvPr id="19" name="Text 16"/>
          <p:cNvSpPr txBox="1"/>
          <p:nvPr/>
        </p:nvSpPr>
        <p:spPr>
          <a:xfrm>
            <a:off x="5148072" y="3703320"/>
            <a:ext cx="3657600" cy="566928"/>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Held at the end of the 17th week. Paper duration: two hours.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Passing a course</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What you need to clear a subject</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02920" y="1371600"/>
            <a:ext cx="2880360" cy="2377440"/>
          </a:xfrm>
          <a:prstGeom prst="roundRect">
            <a:avLst>
              <a:gd name="adj" fmla="val 3462"/>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6" name="Text 4"/>
          <p:cNvSpPr txBox="1"/>
          <p:nvPr/>
        </p:nvSpPr>
        <p:spPr>
          <a:xfrm>
            <a:off x="502920" y="1783080"/>
            <a:ext cx="2880360" cy="777240"/>
          </a:xfrm>
          <a:prstGeom prst="rect">
            <a:avLst/>
          </a:prstGeom>
          <a:noFill/>
          <a:ln/>
        </p:spPr>
        <p:txBody>
          <a:bodyPr wrap="square" lIns="0" tIns="0" rIns="0" bIns="0" rtlCol="0" anchor="ctr"/>
          <a:lstStyle/>
          <a:p>
            <a:pPr algn="ctr" indent="0" marL="0">
              <a:buNone/>
            </a:pPr>
            <a:r>
              <a:rPr lang="en-US" sz="5800" b="1" dirty="0">
                <a:solidFill>
                  <a:srgbClr val="E0A526"/>
                </a:solidFill>
                <a:latin typeface="Cambria" pitchFamily="34" charset="0"/>
                <a:ea typeface="Cambria" pitchFamily="34" charset="-122"/>
                <a:cs typeface="Cambria" pitchFamily="34" charset="-120"/>
              </a:rPr>
              <a:t>50%</a:t>
            </a:r>
            <a:endParaRPr lang="en-US" sz="5800" dirty="0"/>
          </a:p>
        </p:txBody>
      </p:sp>
      <p:sp>
        <p:nvSpPr>
          <p:cNvPr id="7" name="Text 5"/>
          <p:cNvSpPr txBox="1"/>
          <p:nvPr/>
        </p:nvSpPr>
        <p:spPr>
          <a:xfrm>
            <a:off x="502920" y="2606040"/>
            <a:ext cx="2880360" cy="640080"/>
          </a:xfrm>
          <a:prstGeom prst="rect">
            <a:avLst/>
          </a:prstGeom>
          <a:noFill/>
          <a:ln/>
        </p:spPr>
        <p:txBody>
          <a:bodyPr wrap="square" lIns="0" tIns="0" rIns="0" bIns="0" rtlCol="0" anchor="t"/>
          <a:lstStyle/>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minimum marks</a:t>
            </a:r>
            <a:endParaRPr lang="en-US" sz="1400" dirty="0"/>
          </a:p>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(grade 'D')</a:t>
            </a:r>
            <a:endParaRPr lang="en-US" sz="1400" dirty="0"/>
          </a:p>
        </p:txBody>
      </p:sp>
      <p:sp>
        <p:nvSpPr>
          <p:cNvPr id="8" name="Shape 6"/>
          <p:cNvSpPr/>
          <p:nvPr/>
        </p:nvSpPr>
        <p:spPr>
          <a:xfrm>
            <a:off x="3749040" y="1426464"/>
            <a:ext cx="256032" cy="256032"/>
          </a:xfrm>
          <a:prstGeom prst="ellipse">
            <a:avLst/>
          </a:prstGeom>
          <a:solidFill>
            <a:srgbClr val="2F7A47"/>
          </a:solidFill>
          <a:ln w="12700">
            <a:solidFill>
              <a:srgbClr val="2F7A47"/>
            </a:solidFill>
            <a:prstDash val="solid"/>
          </a:ln>
        </p:spPr>
      </p:sp>
      <p:sp>
        <p:nvSpPr>
          <p:cNvPr id="9" name="Text 7"/>
          <p:cNvSpPr txBox="1"/>
          <p:nvPr/>
        </p:nvSpPr>
        <p:spPr>
          <a:xfrm>
            <a:off x="3749040" y="1426464"/>
            <a:ext cx="256032" cy="256032"/>
          </a:xfrm>
          <a:prstGeom prst="rect">
            <a:avLst/>
          </a:prstGeom>
          <a:noFill/>
          <a:ln/>
        </p:spPr>
        <p:txBody>
          <a:bodyPr wrap="square" lIns="0" tIns="0" rIns="0" bIns="0" rtlCol="0" anchor="ctr"/>
          <a:lstStyle/>
          <a:p>
            <a:pPr algn="ctr" indent="0" marL="0">
              <a:buNone/>
            </a:pPr>
            <a:endParaRPr lang="en-US" sz="1600" dirty="0"/>
          </a:p>
        </p:txBody>
      </p:sp>
      <p:sp>
        <p:nvSpPr>
          <p:cNvPr id="10" name="Text 8"/>
          <p:cNvSpPr txBox="1"/>
          <p:nvPr/>
        </p:nvSpPr>
        <p:spPr>
          <a:xfrm>
            <a:off x="4151376" y="1371600"/>
            <a:ext cx="4489704" cy="603504"/>
          </a:xfrm>
          <a:prstGeom prst="rect">
            <a:avLst/>
          </a:prstGeom>
          <a:noFill/>
          <a:ln/>
        </p:spPr>
        <p:txBody>
          <a:bodyPr wrap="square" lIns="0" tIns="0" rIns="0" bIns="0" rtlCol="0" anchor="t"/>
          <a:lstStyle/>
          <a:p>
            <a:pPr indent="0" marL="0">
              <a:lnSpc>
                <a:spcPct val="115000"/>
              </a:lnSpc>
              <a:buNone/>
            </a:pPr>
            <a:r>
              <a:rPr lang="en-US" sz="1350" dirty="0">
                <a:solidFill>
                  <a:srgbClr val="1A2620"/>
                </a:solidFill>
                <a:latin typeface="Calibri" pitchFamily="34" charset="0"/>
                <a:ea typeface="Calibri" pitchFamily="34" charset="-122"/>
                <a:cs typeface="Calibri" pitchFamily="34" charset="-120"/>
              </a:rPr>
              <a:t>The 50% is counted on the total of sessional work, mid term and final term together.</a:t>
            </a:r>
            <a:endParaRPr lang="en-US" sz="1350" dirty="0"/>
          </a:p>
        </p:txBody>
      </p:sp>
      <p:sp>
        <p:nvSpPr>
          <p:cNvPr id="11" name="Shape 9"/>
          <p:cNvSpPr/>
          <p:nvPr/>
        </p:nvSpPr>
        <p:spPr>
          <a:xfrm>
            <a:off x="3749040" y="2084832"/>
            <a:ext cx="256032" cy="256032"/>
          </a:xfrm>
          <a:prstGeom prst="ellipse">
            <a:avLst/>
          </a:prstGeom>
          <a:solidFill>
            <a:srgbClr val="2F7A47"/>
          </a:solidFill>
          <a:ln w="12700">
            <a:solidFill>
              <a:srgbClr val="2F7A47"/>
            </a:solidFill>
            <a:prstDash val="solid"/>
          </a:ln>
        </p:spPr>
      </p:sp>
      <p:sp>
        <p:nvSpPr>
          <p:cNvPr id="12" name="Text 10"/>
          <p:cNvSpPr txBox="1"/>
          <p:nvPr/>
        </p:nvSpPr>
        <p:spPr>
          <a:xfrm>
            <a:off x="3749040" y="2084832"/>
            <a:ext cx="256032" cy="256032"/>
          </a:xfrm>
          <a:prstGeom prst="rect">
            <a:avLst/>
          </a:prstGeom>
          <a:noFill/>
          <a:ln/>
        </p:spPr>
        <p:txBody>
          <a:bodyPr wrap="square" lIns="0" tIns="0" rIns="0" bIns="0" rtlCol="0" anchor="ctr"/>
          <a:lstStyle/>
          <a:p>
            <a:pPr algn="ctr" indent="0" marL="0">
              <a:buNone/>
            </a:pPr>
            <a:endParaRPr lang="en-US" sz="1600" dirty="0"/>
          </a:p>
        </p:txBody>
      </p:sp>
      <p:sp>
        <p:nvSpPr>
          <p:cNvPr id="13" name="Text 11"/>
          <p:cNvSpPr txBox="1"/>
          <p:nvPr/>
        </p:nvSpPr>
        <p:spPr>
          <a:xfrm>
            <a:off x="4151376" y="2029968"/>
            <a:ext cx="4489704" cy="603504"/>
          </a:xfrm>
          <a:prstGeom prst="rect">
            <a:avLst/>
          </a:prstGeom>
          <a:noFill/>
          <a:ln/>
        </p:spPr>
        <p:txBody>
          <a:bodyPr wrap="square" lIns="0" tIns="0" rIns="0" bIns="0" rtlCol="0" anchor="t"/>
          <a:lstStyle/>
          <a:p>
            <a:pPr indent="0" marL="0">
              <a:lnSpc>
                <a:spcPct val="115000"/>
              </a:lnSpc>
              <a:buNone/>
            </a:pPr>
            <a:r>
              <a:rPr lang="en-US" sz="1350" dirty="0">
                <a:solidFill>
                  <a:srgbClr val="1A2620"/>
                </a:solidFill>
                <a:latin typeface="Calibri" pitchFamily="34" charset="0"/>
                <a:ea typeface="Calibri" pitchFamily="34" charset="-122"/>
                <a:cs typeface="Calibri" pitchFamily="34" charset="-120"/>
              </a:rPr>
              <a:t>You must appear in both exams. Missing one without a valid reason means zero marks in it.</a:t>
            </a:r>
            <a:endParaRPr lang="en-US" sz="1350" dirty="0"/>
          </a:p>
        </p:txBody>
      </p:sp>
      <p:sp>
        <p:nvSpPr>
          <p:cNvPr id="14" name="Shape 12"/>
          <p:cNvSpPr/>
          <p:nvPr/>
        </p:nvSpPr>
        <p:spPr>
          <a:xfrm>
            <a:off x="3749040" y="2743200"/>
            <a:ext cx="256032" cy="256032"/>
          </a:xfrm>
          <a:prstGeom prst="ellipse">
            <a:avLst/>
          </a:prstGeom>
          <a:solidFill>
            <a:srgbClr val="9BBF8A"/>
          </a:solidFill>
          <a:ln w="12700">
            <a:solidFill>
              <a:srgbClr val="9BBF8A"/>
            </a:solidFill>
            <a:prstDash val="solid"/>
          </a:ln>
        </p:spPr>
      </p:sp>
      <p:sp>
        <p:nvSpPr>
          <p:cNvPr id="15" name="Text 13"/>
          <p:cNvSpPr txBox="1"/>
          <p:nvPr/>
        </p:nvSpPr>
        <p:spPr>
          <a:xfrm>
            <a:off x="3749040" y="2743200"/>
            <a:ext cx="256032" cy="256032"/>
          </a:xfrm>
          <a:prstGeom prst="rect">
            <a:avLst/>
          </a:prstGeom>
          <a:noFill/>
          <a:ln/>
        </p:spPr>
        <p:txBody>
          <a:bodyPr wrap="square" lIns="0" tIns="0" rIns="0" bIns="0" rtlCol="0" anchor="ctr"/>
          <a:lstStyle/>
          <a:p>
            <a:pPr algn="ctr" indent="0" marL="0">
              <a:buNone/>
            </a:pPr>
            <a:endParaRPr lang="en-US" sz="1600" dirty="0"/>
          </a:p>
        </p:txBody>
      </p:sp>
      <p:sp>
        <p:nvSpPr>
          <p:cNvPr id="16" name="Text 14"/>
          <p:cNvSpPr txBox="1"/>
          <p:nvPr/>
        </p:nvSpPr>
        <p:spPr>
          <a:xfrm>
            <a:off x="4151376" y="2688336"/>
            <a:ext cx="4489704" cy="603504"/>
          </a:xfrm>
          <a:prstGeom prst="rect">
            <a:avLst/>
          </a:prstGeom>
          <a:noFill/>
          <a:ln/>
        </p:spPr>
        <p:txBody>
          <a:bodyPr wrap="square" lIns="0" tIns="0" rIns="0" bIns="0" rtlCol="0" anchor="t"/>
          <a:lstStyle/>
          <a:p>
            <a:pPr indent="0" marL="0">
              <a:lnSpc>
                <a:spcPct val="115000"/>
              </a:lnSpc>
              <a:buNone/>
            </a:pPr>
            <a:r>
              <a:rPr lang="en-US" sz="1350" dirty="0">
                <a:solidFill>
                  <a:srgbClr val="1A2620"/>
                </a:solidFill>
                <a:latin typeface="Calibri" pitchFamily="34" charset="0"/>
                <a:ea typeface="Calibri" pitchFamily="34" charset="-122"/>
                <a:cs typeface="Calibri" pitchFamily="34" charset="-120"/>
              </a:rPr>
              <a:t>Below 50%, or absent, means grade 'F' - the course must be repeated.</a:t>
            </a:r>
            <a:endParaRPr lang="en-US" sz="1350" dirty="0"/>
          </a:p>
        </p:txBody>
      </p:sp>
      <p:sp>
        <p:nvSpPr>
          <p:cNvPr id="17" name="Shape 15"/>
          <p:cNvSpPr/>
          <p:nvPr/>
        </p:nvSpPr>
        <p:spPr>
          <a:xfrm>
            <a:off x="3749040" y="3401568"/>
            <a:ext cx="256032" cy="256032"/>
          </a:xfrm>
          <a:prstGeom prst="ellipse">
            <a:avLst/>
          </a:prstGeom>
          <a:solidFill>
            <a:srgbClr val="9BBF8A"/>
          </a:solidFill>
          <a:ln w="12700">
            <a:solidFill>
              <a:srgbClr val="9BBF8A"/>
            </a:solidFill>
            <a:prstDash val="solid"/>
          </a:ln>
        </p:spPr>
      </p:sp>
      <p:sp>
        <p:nvSpPr>
          <p:cNvPr id="18" name="Text 16"/>
          <p:cNvSpPr txBox="1"/>
          <p:nvPr/>
        </p:nvSpPr>
        <p:spPr>
          <a:xfrm>
            <a:off x="3749040" y="3401568"/>
            <a:ext cx="256032" cy="256032"/>
          </a:xfrm>
          <a:prstGeom prst="rect">
            <a:avLst/>
          </a:prstGeom>
          <a:noFill/>
          <a:ln/>
        </p:spPr>
        <p:txBody>
          <a:bodyPr wrap="square" lIns="0" tIns="0" rIns="0" bIns="0" rtlCol="0" anchor="ctr"/>
          <a:lstStyle/>
          <a:p>
            <a:pPr algn="ctr" indent="0" marL="0">
              <a:buNone/>
            </a:pPr>
            <a:endParaRPr lang="en-US" sz="1600" dirty="0"/>
          </a:p>
        </p:txBody>
      </p:sp>
      <p:sp>
        <p:nvSpPr>
          <p:cNvPr id="19" name="Text 17"/>
          <p:cNvSpPr txBox="1"/>
          <p:nvPr/>
        </p:nvSpPr>
        <p:spPr>
          <a:xfrm>
            <a:off x="4151376" y="3346704"/>
            <a:ext cx="4489704" cy="603504"/>
          </a:xfrm>
          <a:prstGeom prst="rect">
            <a:avLst/>
          </a:prstGeom>
          <a:noFill/>
          <a:ln/>
        </p:spPr>
        <p:txBody>
          <a:bodyPr wrap="square" lIns="0" tIns="0" rIns="0" bIns="0" rtlCol="0" anchor="t"/>
          <a:lstStyle/>
          <a:p>
            <a:pPr indent="0" marL="0">
              <a:lnSpc>
                <a:spcPct val="115000"/>
              </a:lnSpc>
              <a:buNone/>
            </a:pPr>
            <a:r>
              <a:rPr lang="en-US" sz="1350" dirty="0">
                <a:solidFill>
                  <a:srgbClr val="1A2620"/>
                </a:solidFill>
                <a:latin typeface="Calibri" pitchFamily="34" charset="0"/>
                <a:ea typeface="Calibri" pitchFamily="34" charset="-122"/>
                <a:cs typeface="Calibri" pitchFamily="34" charset="-120"/>
              </a:rPr>
              <a:t>There is no choice in questions in the mid term and final term papers.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When are the exams held?</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A semester is 18 weeks long</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02920" y="1600200"/>
            <a:ext cx="2529840" cy="2148840"/>
          </a:xfrm>
          <a:prstGeom prst="roundRect">
            <a:avLst>
              <a:gd name="adj" fmla="val 3830"/>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6" name="Shape 4"/>
          <p:cNvSpPr/>
          <p:nvPr/>
        </p:nvSpPr>
        <p:spPr>
          <a:xfrm>
            <a:off x="1530096" y="1371600"/>
            <a:ext cx="475488" cy="475488"/>
          </a:xfrm>
          <a:prstGeom prst="ellipse">
            <a:avLst/>
          </a:prstGeom>
          <a:solidFill>
            <a:srgbClr val="1F4D2E"/>
          </a:solidFill>
          <a:ln w="12700">
            <a:solidFill>
              <a:srgbClr val="1F4D2E"/>
            </a:solidFill>
            <a:prstDash val="solid"/>
          </a:ln>
        </p:spPr>
      </p:sp>
      <p:sp>
        <p:nvSpPr>
          <p:cNvPr id="7" name="Text 5"/>
          <p:cNvSpPr txBox="1"/>
          <p:nvPr/>
        </p:nvSpPr>
        <p:spPr>
          <a:xfrm>
            <a:off x="1530096" y="137160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txBox="1"/>
          <p:nvPr/>
        </p:nvSpPr>
        <p:spPr>
          <a:xfrm>
            <a:off x="685800" y="1965960"/>
            <a:ext cx="2164080" cy="256032"/>
          </a:xfrm>
          <a:prstGeom prst="rect">
            <a:avLst/>
          </a:prstGeom>
          <a:noFill/>
          <a:ln/>
        </p:spPr>
        <p:txBody>
          <a:bodyPr wrap="square" lIns="0" tIns="0" rIns="0" bIns="0" rtlCol="0" anchor="ctr"/>
          <a:lstStyle/>
          <a:p>
            <a:pPr algn="ctr" indent="0" marL="0">
              <a:buNone/>
            </a:pPr>
            <a:r>
              <a:rPr lang="en-US" sz="1200" b="1" spc="100" kern="0" dirty="0">
                <a:solidFill>
                  <a:srgbClr val="2F7A47"/>
                </a:solidFill>
                <a:latin typeface="Calibri" pitchFamily="34" charset="0"/>
                <a:ea typeface="Calibri" pitchFamily="34" charset="-122"/>
                <a:cs typeface="Calibri" pitchFamily="34" charset="-120"/>
              </a:rPr>
              <a:t>Weeks 1-16</a:t>
            </a:r>
            <a:endParaRPr lang="en-US" sz="1200" dirty="0"/>
          </a:p>
        </p:txBody>
      </p:sp>
      <p:sp>
        <p:nvSpPr>
          <p:cNvPr id="9" name="Text 7"/>
          <p:cNvSpPr txBox="1"/>
          <p:nvPr/>
        </p:nvSpPr>
        <p:spPr>
          <a:xfrm>
            <a:off x="685800" y="2249424"/>
            <a:ext cx="2164080" cy="347472"/>
          </a:xfrm>
          <a:prstGeom prst="rect">
            <a:avLst/>
          </a:prstGeom>
          <a:noFill/>
          <a:ln/>
        </p:spPr>
        <p:txBody>
          <a:bodyPr wrap="square" lIns="0" tIns="0" rIns="0" bIns="0" rtlCol="0" anchor="ctr"/>
          <a:lstStyle/>
          <a:p>
            <a:pPr algn="ctr" indent="0" marL="0">
              <a:buNone/>
            </a:pPr>
            <a:r>
              <a:rPr lang="en-US" sz="1800" b="1" dirty="0">
                <a:solidFill>
                  <a:srgbClr val="1F4D2E"/>
                </a:solidFill>
                <a:latin typeface="Cambria" pitchFamily="34" charset="0"/>
                <a:ea typeface="Cambria" pitchFamily="34" charset="-122"/>
                <a:cs typeface="Cambria" pitchFamily="34" charset="-120"/>
              </a:rPr>
              <a:t>Teaching</a:t>
            </a:r>
            <a:endParaRPr lang="en-US" sz="1800" dirty="0"/>
          </a:p>
        </p:txBody>
      </p:sp>
      <p:sp>
        <p:nvSpPr>
          <p:cNvPr id="10" name="Text 8"/>
          <p:cNvSpPr txBox="1"/>
          <p:nvPr/>
        </p:nvSpPr>
        <p:spPr>
          <a:xfrm>
            <a:off x="722376" y="2670048"/>
            <a:ext cx="2090928" cy="960120"/>
          </a:xfrm>
          <a:prstGeom prst="rect">
            <a:avLst/>
          </a:prstGeom>
          <a:noFill/>
          <a:ln/>
        </p:spPr>
        <p:txBody>
          <a:bodyPr wrap="square" lIns="0" tIns="0" rIns="0" bIns="0" rtlCol="0" anchor="t"/>
          <a:lstStyle/>
          <a:p>
            <a:pPr algn="ctr" indent="0" marL="0">
              <a:lnSpc>
                <a:spcPct val="115000"/>
              </a:lnSpc>
              <a:buNone/>
            </a:pPr>
            <a:r>
              <a:rPr lang="en-US" sz="1250" dirty="0">
                <a:solidFill>
                  <a:srgbClr val="5F6F66"/>
                </a:solidFill>
                <a:latin typeface="Calibri" pitchFamily="34" charset="0"/>
                <a:ea typeface="Calibri" pitchFamily="34" charset="-122"/>
                <a:cs typeface="Calibri" pitchFamily="34" charset="-120"/>
              </a:rPr>
              <a:t>Sixteen weeks of lectures. The teacher gives the course outline within the first 7 days.</a:t>
            </a:r>
            <a:endParaRPr lang="en-US" sz="1250" dirty="0"/>
          </a:p>
        </p:txBody>
      </p:sp>
      <p:sp>
        <p:nvSpPr>
          <p:cNvPr id="11" name="Shape 9"/>
          <p:cNvSpPr/>
          <p:nvPr/>
        </p:nvSpPr>
        <p:spPr>
          <a:xfrm>
            <a:off x="3307080" y="1600200"/>
            <a:ext cx="2529840" cy="2148840"/>
          </a:xfrm>
          <a:prstGeom prst="roundRect">
            <a:avLst>
              <a:gd name="adj" fmla="val 3830"/>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2" name="Shape 10"/>
          <p:cNvSpPr/>
          <p:nvPr/>
        </p:nvSpPr>
        <p:spPr>
          <a:xfrm>
            <a:off x="4334256" y="1371600"/>
            <a:ext cx="475488" cy="475488"/>
          </a:xfrm>
          <a:prstGeom prst="ellipse">
            <a:avLst/>
          </a:prstGeom>
          <a:solidFill>
            <a:srgbClr val="1F4D2E"/>
          </a:solidFill>
          <a:ln w="12700">
            <a:solidFill>
              <a:srgbClr val="1F4D2E"/>
            </a:solidFill>
            <a:prstDash val="solid"/>
          </a:ln>
        </p:spPr>
      </p:sp>
      <p:sp>
        <p:nvSpPr>
          <p:cNvPr id="13" name="Text 11"/>
          <p:cNvSpPr txBox="1"/>
          <p:nvPr/>
        </p:nvSpPr>
        <p:spPr>
          <a:xfrm>
            <a:off x="4334256" y="137160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4" name="Text 12"/>
          <p:cNvSpPr txBox="1"/>
          <p:nvPr/>
        </p:nvSpPr>
        <p:spPr>
          <a:xfrm>
            <a:off x="3489960" y="1965960"/>
            <a:ext cx="2164080" cy="256032"/>
          </a:xfrm>
          <a:prstGeom prst="rect">
            <a:avLst/>
          </a:prstGeom>
          <a:noFill/>
          <a:ln/>
        </p:spPr>
        <p:txBody>
          <a:bodyPr wrap="square" lIns="0" tIns="0" rIns="0" bIns="0" rtlCol="0" anchor="ctr"/>
          <a:lstStyle/>
          <a:p>
            <a:pPr algn="ctr" indent="0" marL="0">
              <a:buNone/>
            </a:pPr>
            <a:r>
              <a:rPr lang="en-US" sz="1200" b="1" spc="100" kern="0" dirty="0">
                <a:solidFill>
                  <a:srgbClr val="2F7A47"/>
                </a:solidFill>
                <a:latin typeface="Calibri" pitchFamily="34" charset="0"/>
                <a:ea typeface="Calibri" pitchFamily="34" charset="-122"/>
                <a:cs typeface="Calibri" pitchFamily="34" charset="-120"/>
              </a:rPr>
              <a:t>After week 8</a:t>
            </a:r>
            <a:endParaRPr lang="en-US" sz="1200" dirty="0"/>
          </a:p>
        </p:txBody>
      </p:sp>
      <p:sp>
        <p:nvSpPr>
          <p:cNvPr id="15" name="Text 13"/>
          <p:cNvSpPr txBox="1"/>
          <p:nvPr/>
        </p:nvSpPr>
        <p:spPr>
          <a:xfrm>
            <a:off x="3489960" y="2249424"/>
            <a:ext cx="2164080" cy="347472"/>
          </a:xfrm>
          <a:prstGeom prst="rect">
            <a:avLst/>
          </a:prstGeom>
          <a:noFill/>
          <a:ln/>
        </p:spPr>
        <p:txBody>
          <a:bodyPr wrap="square" lIns="0" tIns="0" rIns="0" bIns="0" rtlCol="0" anchor="ctr"/>
          <a:lstStyle/>
          <a:p>
            <a:pPr algn="ctr" indent="0" marL="0">
              <a:buNone/>
            </a:pPr>
            <a:r>
              <a:rPr lang="en-US" sz="1800" b="1" dirty="0">
                <a:solidFill>
                  <a:srgbClr val="1F4D2E"/>
                </a:solidFill>
                <a:latin typeface="Cambria" pitchFamily="34" charset="0"/>
                <a:ea typeface="Cambria" pitchFamily="34" charset="-122"/>
                <a:cs typeface="Cambria" pitchFamily="34" charset="-120"/>
              </a:rPr>
              <a:t>Mid term exam</a:t>
            </a:r>
            <a:endParaRPr lang="en-US" sz="1800" dirty="0"/>
          </a:p>
        </p:txBody>
      </p:sp>
      <p:sp>
        <p:nvSpPr>
          <p:cNvPr id="16" name="Text 14"/>
          <p:cNvSpPr txBox="1"/>
          <p:nvPr/>
        </p:nvSpPr>
        <p:spPr>
          <a:xfrm>
            <a:off x="3526536" y="2670048"/>
            <a:ext cx="2090928" cy="960120"/>
          </a:xfrm>
          <a:prstGeom prst="rect">
            <a:avLst/>
          </a:prstGeom>
          <a:noFill/>
          <a:ln/>
        </p:spPr>
        <p:txBody>
          <a:bodyPr wrap="square" lIns="0" tIns="0" rIns="0" bIns="0" rtlCol="0" anchor="t"/>
          <a:lstStyle/>
          <a:p>
            <a:pPr algn="ctr" indent="0" marL="0">
              <a:lnSpc>
                <a:spcPct val="115000"/>
              </a:lnSpc>
              <a:buNone/>
            </a:pPr>
            <a:r>
              <a:rPr lang="en-US" sz="1250" dirty="0">
                <a:solidFill>
                  <a:srgbClr val="5F6F66"/>
                </a:solidFill>
                <a:latin typeface="Calibri" pitchFamily="34" charset="0"/>
                <a:ea typeface="Calibri" pitchFamily="34" charset="-122"/>
                <a:cs typeface="Calibri" pitchFamily="34" charset="-120"/>
              </a:rPr>
              <a:t>1.5 hours. Worth 35% of the course marks.</a:t>
            </a:r>
            <a:endParaRPr lang="en-US" sz="1250" dirty="0"/>
          </a:p>
        </p:txBody>
      </p:sp>
      <p:sp>
        <p:nvSpPr>
          <p:cNvPr id="17" name="Shape 15"/>
          <p:cNvSpPr/>
          <p:nvPr/>
        </p:nvSpPr>
        <p:spPr>
          <a:xfrm>
            <a:off x="6111240" y="1600200"/>
            <a:ext cx="2529840" cy="2148840"/>
          </a:xfrm>
          <a:prstGeom prst="roundRect">
            <a:avLst>
              <a:gd name="adj" fmla="val 3830"/>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18" name="Shape 16"/>
          <p:cNvSpPr/>
          <p:nvPr/>
        </p:nvSpPr>
        <p:spPr>
          <a:xfrm>
            <a:off x="7138416" y="1371600"/>
            <a:ext cx="475488" cy="475488"/>
          </a:xfrm>
          <a:prstGeom prst="ellipse">
            <a:avLst/>
          </a:prstGeom>
          <a:solidFill>
            <a:srgbClr val="E0A526"/>
          </a:solidFill>
          <a:ln w="12700">
            <a:solidFill>
              <a:srgbClr val="E0A526"/>
            </a:solidFill>
            <a:prstDash val="solid"/>
          </a:ln>
        </p:spPr>
      </p:sp>
      <p:sp>
        <p:nvSpPr>
          <p:cNvPr id="19" name="Text 17"/>
          <p:cNvSpPr txBox="1"/>
          <p:nvPr/>
        </p:nvSpPr>
        <p:spPr>
          <a:xfrm>
            <a:off x="7138416" y="1371600"/>
            <a:ext cx="475488" cy="475488"/>
          </a:xfrm>
          <a:prstGeom prst="rect">
            <a:avLst/>
          </a:prstGeom>
          <a:noFill/>
          <a:ln/>
        </p:spPr>
        <p:txBody>
          <a:bodyPr wrap="square" lIns="0" tIns="0" rIns="0" bIns="0" rtlCol="0" anchor="ctr"/>
          <a:lstStyle/>
          <a:p>
            <a:pPr algn="ctr" indent="0" marL="0">
              <a:buNone/>
            </a:pPr>
            <a:r>
              <a:rPr lang="en-US" sz="1700" b="1" dirty="0">
                <a:solidFill>
                  <a:srgbClr val="1F4D2E"/>
                </a:solidFill>
                <a:latin typeface="Cambria" pitchFamily="34" charset="0"/>
                <a:ea typeface="Cambria" pitchFamily="34" charset="-122"/>
                <a:cs typeface="Cambria" pitchFamily="34" charset="-120"/>
              </a:rPr>
              <a:t>3</a:t>
            </a:r>
            <a:endParaRPr lang="en-US" sz="1700" dirty="0"/>
          </a:p>
        </p:txBody>
      </p:sp>
      <p:sp>
        <p:nvSpPr>
          <p:cNvPr id="20" name="Text 18"/>
          <p:cNvSpPr txBox="1"/>
          <p:nvPr/>
        </p:nvSpPr>
        <p:spPr>
          <a:xfrm>
            <a:off x="6294120" y="1965960"/>
            <a:ext cx="2164080" cy="256032"/>
          </a:xfrm>
          <a:prstGeom prst="rect">
            <a:avLst/>
          </a:prstGeom>
          <a:noFill/>
          <a:ln/>
        </p:spPr>
        <p:txBody>
          <a:bodyPr wrap="square" lIns="0" tIns="0" rIns="0" bIns="0" rtlCol="0" anchor="ctr"/>
          <a:lstStyle/>
          <a:p>
            <a:pPr algn="ctr" indent="0" marL="0">
              <a:buNone/>
            </a:pPr>
            <a:r>
              <a:rPr lang="en-US" sz="1200" b="1" spc="100" kern="0" dirty="0">
                <a:solidFill>
                  <a:srgbClr val="E0A526"/>
                </a:solidFill>
                <a:latin typeface="Calibri" pitchFamily="34" charset="0"/>
                <a:ea typeface="Calibri" pitchFamily="34" charset="-122"/>
                <a:cs typeface="Calibri" pitchFamily="34" charset="-120"/>
              </a:rPr>
              <a:t>Week 18</a:t>
            </a:r>
            <a:endParaRPr lang="en-US" sz="1200" dirty="0"/>
          </a:p>
        </p:txBody>
      </p:sp>
      <p:sp>
        <p:nvSpPr>
          <p:cNvPr id="21" name="Text 19"/>
          <p:cNvSpPr txBox="1"/>
          <p:nvPr/>
        </p:nvSpPr>
        <p:spPr>
          <a:xfrm>
            <a:off x="6294120" y="2249424"/>
            <a:ext cx="216408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Final term exam</a:t>
            </a:r>
            <a:endParaRPr lang="en-US" sz="1800" dirty="0"/>
          </a:p>
        </p:txBody>
      </p:sp>
      <p:sp>
        <p:nvSpPr>
          <p:cNvPr id="22" name="Text 20"/>
          <p:cNvSpPr txBox="1"/>
          <p:nvPr/>
        </p:nvSpPr>
        <p:spPr>
          <a:xfrm>
            <a:off x="6330696" y="2670048"/>
            <a:ext cx="2090928" cy="960120"/>
          </a:xfrm>
          <a:prstGeom prst="rect">
            <a:avLst/>
          </a:prstGeom>
          <a:noFill/>
          <a:ln/>
        </p:spPr>
        <p:txBody>
          <a:bodyPr wrap="square" lIns="0" tIns="0" rIns="0" bIns="0" rtlCol="0" anchor="t"/>
          <a:lstStyle/>
          <a:p>
            <a:pPr algn="ctr" indent="0" marL="0">
              <a:lnSpc>
                <a:spcPct val="115000"/>
              </a:lnSpc>
              <a:buNone/>
            </a:pPr>
            <a:r>
              <a:rPr lang="en-US" sz="1250" dirty="0">
                <a:solidFill>
                  <a:srgbClr val="9BBF8A"/>
                </a:solidFill>
                <a:latin typeface="Calibri" pitchFamily="34" charset="0"/>
                <a:ea typeface="Calibri" pitchFamily="34" charset="-122"/>
                <a:cs typeface="Calibri" pitchFamily="34" charset="-120"/>
              </a:rPr>
              <a:t>2 hours, held at the end of the 17th week. Worth 40%.</a:t>
            </a:r>
            <a:endParaRPr lang="en-US" sz="1250" dirty="0"/>
          </a:p>
        </p:txBody>
      </p:sp>
      <p:sp>
        <p:nvSpPr>
          <p:cNvPr id="23" name="Text 21"/>
          <p:cNvSpPr txBox="1"/>
          <p:nvPr/>
        </p:nvSpPr>
        <p:spPr>
          <a:xfrm>
            <a:off x="502920" y="3977640"/>
            <a:ext cx="8138160" cy="365760"/>
          </a:xfrm>
          <a:prstGeom prst="rect">
            <a:avLst/>
          </a:prstGeom>
          <a:noFill/>
          <a:ln/>
        </p:spPr>
        <p:txBody>
          <a:bodyPr wrap="square" lIns="0" tIns="0" rIns="0" bIns="0" rtlCol="0" anchor="ctr"/>
          <a:lstStyle/>
          <a:p>
            <a:pPr indent="0" marL="0">
              <a:buNone/>
            </a:pPr>
            <a:r>
              <a:rPr lang="en-US" sz="1300" i="1" dirty="0">
                <a:solidFill>
                  <a:srgbClr val="5F6F66"/>
                </a:solidFill>
                <a:latin typeface="Calibri" pitchFamily="34" charset="0"/>
                <a:ea typeface="Calibri" pitchFamily="34" charset="-122"/>
                <a:cs typeface="Calibri" pitchFamily="34" charset="-120"/>
              </a:rPr>
              <a:t>The date sheet for both exams is notified by the Chairman, Director or Principal.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After the exam: your rights</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You are allowed to see your paper and question your marks</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02920" y="1298448"/>
            <a:ext cx="8138160" cy="877824"/>
          </a:xfrm>
          <a:prstGeom prst="roundRect">
            <a:avLst>
              <a:gd name="adj" fmla="val 9375"/>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6" name="Shape 4"/>
          <p:cNvSpPr/>
          <p:nvPr/>
        </p:nvSpPr>
        <p:spPr>
          <a:xfrm>
            <a:off x="740664" y="1499616"/>
            <a:ext cx="457200" cy="457200"/>
          </a:xfrm>
          <a:prstGeom prst="ellipse">
            <a:avLst/>
          </a:prstGeom>
          <a:solidFill>
            <a:srgbClr val="1F4D2E"/>
          </a:solidFill>
          <a:ln w="12700">
            <a:solidFill>
              <a:srgbClr val="1F4D2E"/>
            </a:solidFill>
            <a:prstDash val="solid"/>
          </a:ln>
        </p:spPr>
      </p:sp>
      <p:sp>
        <p:nvSpPr>
          <p:cNvPr id="7" name="Text 5"/>
          <p:cNvSpPr txBox="1"/>
          <p:nvPr/>
        </p:nvSpPr>
        <p:spPr>
          <a:xfrm>
            <a:off x="740664" y="14996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353312" y="1399032"/>
            <a:ext cx="7013448" cy="274320"/>
          </a:xfrm>
          <a:prstGeom prst="rect">
            <a:avLst/>
          </a:prstGeom>
          <a:noFill/>
          <a:ln/>
        </p:spPr>
        <p:txBody>
          <a:bodyPr wrap="square" lIns="0" tIns="0" rIns="0" bIns="0" rtlCol="0" anchor="ctr"/>
          <a:lstStyle/>
          <a:p>
            <a:pPr indent="0" marL="0">
              <a:buNone/>
            </a:pPr>
            <a:r>
              <a:rPr lang="en-US" sz="1550" b="1" dirty="0">
                <a:solidFill>
                  <a:srgbClr val="1F4D2E"/>
                </a:solidFill>
                <a:latin typeface="Cambria" pitchFamily="34" charset="0"/>
                <a:ea typeface="Cambria" pitchFamily="34" charset="-122"/>
                <a:cs typeface="Cambria" pitchFamily="34" charset="-120"/>
              </a:rPr>
              <a:t>Paper showing</a:t>
            </a:r>
            <a:endParaRPr lang="en-US" sz="1550" dirty="0"/>
          </a:p>
        </p:txBody>
      </p:sp>
      <p:sp>
        <p:nvSpPr>
          <p:cNvPr id="9" name="Text 7"/>
          <p:cNvSpPr txBox="1"/>
          <p:nvPr/>
        </p:nvSpPr>
        <p:spPr>
          <a:xfrm>
            <a:off x="1353312" y="1691640"/>
            <a:ext cx="7013448" cy="438912"/>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Teachers must show you the scripts of your sessional work, mid term and final term. The scripts are collected back straight after showing.</a:t>
            </a:r>
            <a:endParaRPr lang="en-US" sz="1250" dirty="0"/>
          </a:p>
        </p:txBody>
      </p:sp>
      <p:sp>
        <p:nvSpPr>
          <p:cNvPr id="10" name="Shape 8"/>
          <p:cNvSpPr/>
          <p:nvPr/>
        </p:nvSpPr>
        <p:spPr>
          <a:xfrm>
            <a:off x="502920" y="2322576"/>
            <a:ext cx="8138160" cy="877824"/>
          </a:xfrm>
          <a:prstGeom prst="roundRect">
            <a:avLst>
              <a:gd name="adj" fmla="val 9375"/>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1" name="Shape 9"/>
          <p:cNvSpPr/>
          <p:nvPr/>
        </p:nvSpPr>
        <p:spPr>
          <a:xfrm>
            <a:off x="740664" y="2523744"/>
            <a:ext cx="457200" cy="457200"/>
          </a:xfrm>
          <a:prstGeom prst="ellipse">
            <a:avLst/>
          </a:prstGeom>
          <a:solidFill>
            <a:srgbClr val="1F4D2E"/>
          </a:solidFill>
          <a:ln w="12700">
            <a:solidFill>
              <a:srgbClr val="1F4D2E"/>
            </a:solidFill>
            <a:prstDash val="solid"/>
          </a:ln>
        </p:spPr>
      </p:sp>
      <p:sp>
        <p:nvSpPr>
          <p:cNvPr id="12" name="Text 10"/>
          <p:cNvSpPr txBox="1"/>
          <p:nvPr/>
        </p:nvSpPr>
        <p:spPr>
          <a:xfrm>
            <a:off x="740664" y="25237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353312" y="2423160"/>
            <a:ext cx="7013448" cy="274320"/>
          </a:xfrm>
          <a:prstGeom prst="rect">
            <a:avLst/>
          </a:prstGeom>
          <a:noFill/>
          <a:ln/>
        </p:spPr>
        <p:txBody>
          <a:bodyPr wrap="square" lIns="0" tIns="0" rIns="0" bIns="0" rtlCol="0" anchor="ctr"/>
          <a:lstStyle/>
          <a:p>
            <a:pPr indent="0" marL="0">
              <a:buNone/>
            </a:pPr>
            <a:r>
              <a:rPr lang="en-US" sz="1550" b="1" dirty="0">
                <a:solidFill>
                  <a:srgbClr val="1F4D2E"/>
                </a:solidFill>
                <a:latin typeface="Cambria" pitchFamily="34" charset="0"/>
                <a:ea typeface="Cambria" pitchFamily="34" charset="-122"/>
                <a:cs typeface="Cambria" pitchFamily="34" charset="-120"/>
              </a:rPr>
              <a:t>Still not satisfied?</a:t>
            </a:r>
            <a:endParaRPr lang="en-US" sz="1550" dirty="0"/>
          </a:p>
        </p:txBody>
      </p:sp>
      <p:sp>
        <p:nvSpPr>
          <p:cNvPr id="14" name="Text 12"/>
          <p:cNvSpPr txBox="1"/>
          <p:nvPr/>
        </p:nvSpPr>
        <p:spPr>
          <a:xfrm>
            <a:off x="1353312" y="2715768"/>
            <a:ext cx="7013448" cy="438912"/>
          </a:xfrm>
          <a:prstGeom prst="rect">
            <a:avLst/>
          </a:prstGeom>
          <a:noFill/>
          <a:ln/>
        </p:spPr>
        <p:txBody>
          <a:bodyPr wrap="square" lIns="0" tIns="0" rIns="0" bIns="0" rtlCol="0" anchor="t"/>
          <a:lstStyle/>
          <a:p>
            <a:pPr indent="0" marL="0">
              <a:lnSpc>
                <a:spcPct val="112000"/>
              </a:lnSpc>
              <a:buNone/>
            </a:pPr>
            <a:r>
              <a:rPr lang="en-US" sz="1250" dirty="0">
                <a:solidFill>
                  <a:srgbClr val="5F6F66"/>
                </a:solidFill>
                <a:latin typeface="Calibri" pitchFamily="34" charset="0"/>
                <a:ea typeface="Calibri" pitchFamily="34" charset="-122"/>
                <a:cs typeface="Calibri" pitchFamily="34" charset="-120"/>
              </a:rPr>
              <a:t>Apply in writing to the Chairman, Director or Principal within one week of the paper showing date.</a:t>
            </a:r>
            <a:endParaRPr lang="en-US" sz="1250" dirty="0"/>
          </a:p>
        </p:txBody>
      </p:sp>
      <p:sp>
        <p:nvSpPr>
          <p:cNvPr id="15" name="Shape 13"/>
          <p:cNvSpPr/>
          <p:nvPr/>
        </p:nvSpPr>
        <p:spPr>
          <a:xfrm>
            <a:off x="502920" y="3346704"/>
            <a:ext cx="8138160" cy="877824"/>
          </a:xfrm>
          <a:prstGeom prst="roundRect">
            <a:avLst>
              <a:gd name="adj" fmla="val 9375"/>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16" name="Shape 14"/>
          <p:cNvSpPr/>
          <p:nvPr/>
        </p:nvSpPr>
        <p:spPr>
          <a:xfrm>
            <a:off x="740664" y="3547872"/>
            <a:ext cx="457200" cy="457200"/>
          </a:xfrm>
          <a:prstGeom prst="ellipse">
            <a:avLst/>
          </a:prstGeom>
          <a:solidFill>
            <a:srgbClr val="E0A526"/>
          </a:solidFill>
          <a:ln w="12700">
            <a:solidFill>
              <a:srgbClr val="E0A526"/>
            </a:solidFill>
            <a:prstDash val="solid"/>
          </a:ln>
        </p:spPr>
      </p:sp>
      <p:sp>
        <p:nvSpPr>
          <p:cNvPr id="17" name="Text 15"/>
          <p:cNvSpPr txBox="1"/>
          <p:nvPr/>
        </p:nvSpPr>
        <p:spPr>
          <a:xfrm>
            <a:off x="740664" y="3547872"/>
            <a:ext cx="457200" cy="457200"/>
          </a:xfrm>
          <a:prstGeom prst="rect">
            <a:avLst/>
          </a:prstGeom>
          <a:noFill/>
          <a:ln/>
        </p:spPr>
        <p:txBody>
          <a:bodyPr wrap="square" lIns="0" tIns="0" rIns="0" bIns="0" rtlCol="0" anchor="ctr"/>
          <a:lstStyle/>
          <a:p>
            <a:pPr algn="ctr" indent="0" marL="0">
              <a:buNone/>
            </a:pPr>
            <a:r>
              <a:rPr lang="en-US" sz="1600" b="1" dirty="0">
                <a:solidFill>
                  <a:srgbClr val="1F4D2E"/>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353312" y="3447288"/>
            <a:ext cx="7013448" cy="2743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Rechecking fee</a:t>
            </a:r>
            <a:endParaRPr lang="en-US" sz="1550" dirty="0"/>
          </a:p>
        </p:txBody>
      </p:sp>
      <p:sp>
        <p:nvSpPr>
          <p:cNvPr id="19" name="Text 17"/>
          <p:cNvSpPr txBox="1"/>
          <p:nvPr/>
        </p:nvSpPr>
        <p:spPr>
          <a:xfrm>
            <a:off x="1353312" y="3739896"/>
            <a:ext cx="7013448" cy="438912"/>
          </a:xfrm>
          <a:prstGeom prst="rect">
            <a:avLst/>
          </a:prstGeom>
          <a:noFill/>
          <a:ln/>
        </p:spPr>
        <p:txBody>
          <a:bodyPr wrap="square" lIns="0" tIns="0" rIns="0" bIns="0" rtlCol="0" anchor="t"/>
          <a:lstStyle/>
          <a:p>
            <a:pPr indent="0" marL="0">
              <a:lnSpc>
                <a:spcPct val="112000"/>
              </a:lnSpc>
              <a:buNone/>
            </a:pPr>
            <a:r>
              <a:rPr lang="en-US" sz="1250" dirty="0">
                <a:solidFill>
                  <a:srgbClr val="9BBF8A"/>
                </a:solidFill>
                <a:latin typeface="Calibri" pitchFamily="34" charset="0"/>
                <a:ea typeface="Calibri" pitchFamily="34" charset="-122"/>
                <a:cs typeface="Calibri" pitchFamily="34" charset="-120"/>
              </a:rPr>
              <a:t>Rs. 1,000 per course. The case goes to the Departmental Examination Committee, and its decision is final.</a:t>
            </a:r>
            <a:endParaRPr lang="en-US" sz="1250" dirty="0"/>
          </a:p>
        </p:txBody>
      </p:sp>
      <p:sp>
        <p:nvSpPr>
          <p:cNvPr id="20" name="Text 18"/>
          <p:cNvSpPr txBox="1"/>
          <p:nvPr/>
        </p:nvSpPr>
        <p:spPr>
          <a:xfrm>
            <a:off x="502920" y="4315968"/>
            <a:ext cx="6400800" cy="292608"/>
          </a:xfrm>
          <a:prstGeom prst="rect">
            <a:avLst/>
          </a:prstGeom>
          <a:noFill/>
          <a:ln/>
        </p:spPr>
        <p:txBody>
          <a:bodyPr wrap="square" lIns="0" tIns="0" rIns="0" bIns="0" rtlCol="0" anchor="ctr"/>
          <a:lstStyle/>
          <a:p>
            <a:pPr indent="0" marL="0">
              <a:buNone/>
            </a:pPr>
            <a:r>
              <a:rPr lang="en-US" sz="1200" i="1" dirty="0">
                <a:solidFill>
                  <a:srgbClr val="5F6F66"/>
                </a:solidFill>
                <a:latin typeface="Calibri" pitchFamily="34" charset="0"/>
                <a:ea typeface="Calibri" pitchFamily="34" charset="-122"/>
                <a:cs typeface="Calibri" pitchFamily="34" charset="-120"/>
              </a:rPr>
              <a:t>Results are also displayed on the department notice board.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If you miss an exam</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A special examination may be arranged - but only on three conditions</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02920" y="1325880"/>
            <a:ext cx="2529840" cy="1691640"/>
          </a:xfrm>
          <a:prstGeom prst="roundRect">
            <a:avLst>
              <a:gd name="adj" fmla="val 4865"/>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6" name="Shape 4"/>
          <p:cNvSpPr/>
          <p:nvPr/>
        </p:nvSpPr>
        <p:spPr>
          <a:xfrm>
            <a:off x="722376" y="1536192"/>
            <a:ext cx="438912" cy="438912"/>
          </a:xfrm>
          <a:prstGeom prst="ellipse">
            <a:avLst/>
          </a:prstGeom>
          <a:solidFill>
            <a:srgbClr val="1F4D2E"/>
          </a:solidFill>
          <a:ln w="12700">
            <a:solidFill>
              <a:srgbClr val="1F4D2E"/>
            </a:solidFill>
            <a:prstDash val="solid"/>
          </a:ln>
        </p:spPr>
      </p:sp>
      <p:sp>
        <p:nvSpPr>
          <p:cNvPr id="7" name="Text 5"/>
          <p:cNvSpPr txBox="1"/>
          <p:nvPr/>
        </p:nvSpPr>
        <p:spPr>
          <a:xfrm>
            <a:off x="722376" y="153619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704088" y="2066544"/>
            <a:ext cx="2127504" cy="292608"/>
          </a:xfrm>
          <a:prstGeom prst="rect">
            <a:avLst/>
          </a:prstGeom>
          <a:noFill/>
          <a:ln/>
        </p:spPr>
        <p:txBody>
          <a:bodyPr wrap="square" lIns="0" tIns="0" rIns="0" bIns="0" rtlCol="0" anchor="ctr"/>
          <a:lstStyle/>
          <a:p>
            <a:pPr indent="0" marL="0">
              <a:buNone/>
            </a:pPr>
            <a:r>
              <a:rPr lang="en-US" sz="1500" b="1" dirty="0">
                <a:solidFill>
                  <a:srgbClr val="1F4D2E"/>
                </a:solidFill>
                <a:latin typeface="Cambria" pitchFamily="34" charset="0"/>
                <a:ea typeface="Cambria" pitchFamily="34" charset="-122"/>
                <a:cs typeface="Cambria" pitchFamily="34" charset="-120"/>
              </a:rPr>
              <a:t>Tell the department</a:t>
            </a:r>
            <a:endParaRPr lang="en-US" sz="1500" dirty="0"/>
          </a:p>
        </p:txBody>
      </p:sp>
      <p:sp>
        <p:nvSpPr>
          <p:cNvPr id="9" name="Text 7"/>
          <p:cNvSpPr txBox="1"/>
          <p:nvPr/>
        </p:nvSpPr>
        <p:spPr>
          <a:xfrm>
            <a:off x="704088" y="2377440"/>
            <a:ext cx="2127504" cy="566928"/>
          </a:xfrm>
          <a:prstGeom prst="rect">
            <a:avLst/>
          </a:prstGeom>
          <a:noFill/>
          <a:ln/>
        </p:spPr>
        <p:txBody>
          <a:bodyPr wrap="square" lIns="0" tIns="0" rIns="0" bIns="0" rtlCol="0" anchor="t"/>
          <a:lstStyle/>
          <a:p>
            <a:pPr indent="0" marL="0">
              <a:lnSpc>
                <a:spcPct val="112000"/>
              </a:lnSpc>
              <a:buNone/>
            </a:pPr>
            <a:r>
              <a:rPr lang="en-US" sz="1200" dirty="0">
                <a:solidFill>
                  <a:srgbClr val="5F6F66"/>
                </a:solidFill>
                <a:latin typeface="Calibri" pitchFamily="34" charset="0"/>
                <a:ea typeface="Calibri" pitchFamily="34" charset="-122"/>
                <a:cs typeface="Calibri" pitchFamily="34" charset="-120"/>
              </a:rPr>
              <a:t>Within one week of the start of the examination.</a:t>
            </a:r>
            <a:endParaRPr lang="en-US" sz="1200" dirty="0"/>
          </a:p>
        </p:txBody>
      </p:sp>
      <p:sp>
        <p:nvSpPr>
          <p:cNvPr id="10" name="Shape 8"/>
          <p:cNvSpPr/>
          <p:nvPr/>
        </p:nvSpPr>
        <p:spPr>
          <a:xfrm>
            <a:off x="3307080" y="1325880"/>
            <a:ext cx="2529840" cy="1691640"/>
          </a:xfrm>
          <a:prstGeom prst="roundRect">
            <a:avLst>
              <a:gd name="adj" fmla="val 4865"/>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1" name="Shape 9"/>
          <p:cNvSpPr/>
          <p:nvPr/>
        </p:nvSpPr>
        <p:spPr>
          <a:xfrm>
            <a:off x="3526536" y="1536192"/>
            <a:ext cx="438912" cy="438912"/>
          </a:xfrm>
          <a:prstGeom prst="ellipse">
            <a:avLst/>
          </a:prstGeom>
          <a:solidFill>
            <a:srgbClr val="1F4D2E"/>
          </a:solidFill>
          <a:ln w="12700">
            <a:solidFill>
              <a:srgbClr val="1F4D2E"/>
            </a:solidFill>
            <a:prstDash val="solid"/>
          </a:ln>
        </p:spPr>
      </p:sp>
      <p:sp>
        <p:nvSpPr>
          <p:cNvPr id="12" name="Text 10"/>
          <p:cNvSpPr txBox="1"/>
          <p:nvPr/>
        </p:nvSpPr>
        <p:spPr>
          <a:xfrm>
            <a:off x="3526536" y="153619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3508248" y="2066544"/>
            <a:ext cx="2127504" cy="292608"/>
          </a:xfrm>
          <a:prstGeom prst="rect">
            <a:avLst/>
          </a:prstGeom>
          <a:noFill/>
          <a:ln/>
        </p:spPr>
        <p:txBody>
          <a:bodyPr wrap="square" lIns="0" tIns="0" rIns="0" bIns="0" rtlCol="0" anchor="ctr"/>
          <a:lstStyle/>
          <a:p>
            <a:pPr indent="0" marL="0">
              <a:buNone/>
            </a:pPr>
            <a:r>
              <a:rPr lang="en-US" sz="1500" b="1" dirty="0">
                <a:solidFill>
                  <a:srgbClr val="1F4D2E"/>
                </a:solidFill>
                <a:latin typeface="Cambria" pitchFamily="34" charset="0"/>
                <a:ea typeface="Cambria" pitchFamily="34" charset="-122"/>
                <a:cs typeface="Cambria" pitchFamily="34" charset="-120"/>
              </a:rPr>
              <a:t>Get approval</a:t>
            </a:r>
            <a:endParaRPr lang="en-US" sz="1500" dirty="0"/>
          </a:p>
        </p:txBody>
      </p:sp>
      <p:sp>
        <p:nvSpPr>
          <p:cNvPr id="14" name="Text 12"/>
          <p:cNvSpPr txBox="1"/>
          <p:nvPr/>
        </p:nvSpPr>
        <p:spPr>
          <a:xfrm>
            <a:off x="3508248" y="2377440"/>
            <a:ext cx="2127504" cy="566928"/>
          </a:xfrm>
          <a:prstGeom prst="rect">
            <a:avLst/>
          </a:prstGeom>
          <a:noFill/>
          <a:ln/>
        </p:spPr>
        <p:txBody>
          <a:bodyPr wrap="square" lIns="0" tIns="0" rIns="0" bIns="0" rtlCol="0" anchor="t"/>
          <a:lstStyle/>
          <a:p>
            <a:pPr indent="0" marL="0">
              <a:lnSpc>
                <a:spcPct val="112000"/>
              </a:lnSpc>
              <a:buNone/>
            </a:pPr>
            <a:r>
              <a:rPr lang="en-US" sz="1200" dirty="0">
                <a:solidFill>
                  <a:srgbClr val="5F6F66"/>
                </a:solidFill>
                <a:latin typeface="Calibri" pitchFamily="34" charset="0"/>
                <a:ea typeface="Calibri" pitchFamily="34" charset="-122"/>
                <a:cs typeface="Calibri" pitchFamily="34" charset="-120"/>
              </a:rPr>
              <a:t>The Head of Department must approve your application.</a:t>
            </a:r>
            <a:endParaRPr lang="en-US" sz="1200" dirty="0"/>
          </a:p>
        </p:txBody>
      </p:sp>
      <p:sp>
        <p:nvSpPr>
          <p:cNvPr id="15" name="Shape 13"/>
          <p:cNvSpPr/>
          <p:nvPr/>
        </p:nvSpPr>
        <p:spPr>
          <a:xfrm>
            <a:off x="6111240" y="1325880"/>
            <a:ext cx="2529840" cy="1691640"/>
          </a:xfrm>
          <a:prstGeom prst="roundRect">
            <a:avLst>
              <a:gd name="adj" fmla="val 4865"/>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6" name="Shape 14"/>
          <p:cNvSpPr/>
          <p:nvPr/>
        </p:nvSpPr>
        <p:spPr>
          <a:xfrm>
            <a:off x="6330696" y="1536192"/>
            <a:ext cx="438912" cy="438912"/>
          </a:xfrm>
          <a:prstGeom prst="ellipse">
            <a:avLst/>
          </a:prstGeom>
          <a:solidFill>
            <a:srgbClr val="1F4D2E"/>
          </a:solidFill>
          <a:ln w="12700">
            <a:solidFill>
              <a:srgbClr val="1F4D2E"/>
            </a:solidFill>
            <a:prstDash val="solid"/>
          </a:ln>
        </p:spPr>
      </p:sp>
      <p:sp>
        <p:nvSpPr>
          <p:cNvPr id="17" name="Text 15"/>
          <p:cNvSpPr txBox="1"/>
          <p:nvPr/>
        </p:nvSpPr>
        <p:spPr>
          <a:xfrm>
            <a:off x="6330696" y="153619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6312408" y="2066544"/>
            <a:ext cx="2127504" cy="292608"/>
          </a:xfrm>
          <a:prstGeom prst="rect">
            <a:avLst/>
          </a:prstGeom>
          <a:noFill/>
          <a:ln/>
        </p:spPr>
        <p:txBody>
          <a:bodyPr wrap="square" lIns="0" tIns="0" rIns="0" bIns="0" rtlCol="0" anchor="ctr"/>
          <a:lstStyle/>
          <a:p>
            <a:pPr indent="0" marL="0">
              <a:buNone/>
            </a:pPr>
            <a:r>
              <a:rPr lang="en-US" sz="1500" b="1" dirty="0">
                <a:solidFill>
                  <a:srgbClr val="1F4D2E"/>
                </a:solidFill>
                <a:latin typeface="Cambria" pitchFamily="34" charset="0"/>
                <a:ea typeface="Cambria" pitchFamily="34" charset="-122"/>
                <a:cs typeface="Cambria" pitchFamily="34" charset="-120"/>
              </a:rPr>
              <a:t>Pay the fee</a:t>
            </a:r>
            <a:endParaRPr lang="en-US" sz="1500" dirty="0"/>
          </a:p>
        </p:txBody>
      </p:sp>
      <p:sp>
        <p:nvSpPr>
          <p:cNvPr id="19" name="Text 17"/>
          <p:cNvSpPr txBox="1"/>
          <p:nvPr/>
        </p:nvSpPr>
        <p:spPr>
          <a:xfrm>
            <a:off x="6312408" y="2377440"/>
            <a:ext cx="2127504" cy="566928"/>
          </a:xfrm>
          <a:prstGeom prst="rect">
            <a:avLst/>
          </a:prstGeom>
          <a:noFill/>
          <a:ln/>
        </p:spPr>
        <p:txBody>
          <a:bodyPr wrap="square" lIns="0" tIns="0" rIns="0" bIns="0" rtlCol="0" anchor="t"/>
          <a:lstStyle/>
          <a:p>
            <a:pPr indent="0" marL="0">
              <a:lnSpc>
                <a:spcPct val="112000"/>
              </a:lnSpc>
              <a:buNone/>
            </a:pPr>
            <a:r>
              <a:rPr lang="en-US" sz="1200" dirty="0">
                <a:solidFill>
                  <a:srgbClr val="5F6F66"/>
                </a:solidFill>
                <a:latin typeface="Calibri" pitchFamily="34" charset="0"/>
                <a:ea typeface="Calibri" pitchFamily="34" charset="-122"/>
                <a:cs typeface="Calibri" pitchFamily="34" charset="-120"/>
              </a:rPr>
              <a:t>Pay the special exam fee notified by the treasurer.</a:t>
            </a:r>
            <a:endParaRPr lang="en-US" sz="1200" dirty="0"/>
          </a:p>
        </p:txBody>
      </p:sp>
      <p:sp>
        <p:nvSpPr>
          <p:cNvPr id="20" name="Shape 18"/>
          <p:cNvSpPr/>
          <p:nvPr/>
        </p:nvSpPr>
        <p:spPr>
          <a:xfrm>
            <a:off x="502920" y="3310128"/>
            <a:ext cx="8138160" cy="1170432"/>
          </a:xfrm>
          <a:prstGeom prst="roundRect">
            <a:avLst>
              <a:gd name="adj" fmla="val 7031"/>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21" name="Text 19"/>
          <p:cNvSpPr txBox="1"/>
          <p:nvPr/>
        </p:nvSpPr>
        <p:spPr>
          <a:xfrm>
            <a:off x="822960" y="3438144"/>
            <a:ext cx="7498080" cy="274320"/>
          </a:xfrm>
          <a:prstGeom prst="rect">
            <a:avLst/>
          </a:prstGeom>
          <a:noFill/>
          <a:ln/>
        </p:spPr>
        <p:txBody>
          <a:bodyPr wrap="square" lIns="0" tIns="0" rIns="0" bIns="0" rtlCol="0" anchor="ctr"/>
          <a:lstStyle/>
          <a:p>
            <a:pPr indent="0" marL="0">
              <a:buNone/>
            </a:pPr>
            <a:r>
              <a:rPr lang="en-US" sz="1500" b="1" dirty="0">
                <a:solidFill>
                  <a:srgbClr val="E0A526"/>
                </a:solidFill>
                <a:latin typeface="Cambria" pitchFamily="34" charset="0"/>
                <a:ea typeface="Cambria" pitchFamily="34" charset="-122"/>
                <a:cs typeface="Cambria" pitchFamily="34" charset="-120"/>
              </a:rPr>
              <a:t>Important limits</a:t>
            </a:r>
            <a:endParaRPr lang="en-US" sz="1500" dirty="0"/>
          </a:p>
        </p:txBody>
      </p:sp>
      <p:sp>
        <p:nvSpPr>
          <p:cNvPr id="22" name="Text 20"/>
          <p:cNvSpPr txBox="1"/>
          <p:nvPr/>
        </p:nvSpPr>
        <p:spPr>
          <a:xfrm>
            <a:off x="822960" y="3749040"/>
            <a:ext cx="7498080" cy="65836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No valid reason, or fee not paid within two weeks, means zero marks in that exam.</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The special exam is not available to improve a D or F grade, or if you already sat the exam.</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The grading table</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Your percentage becomes a letter grade and a grade point</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13</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1600200"/>
                <a:gridCol w="914400"/>
                <a:gridCol w="914400"/>
                <a:gridCol w="1737360"/>
                <a:gridCol w="914400"/>
                <a:gridCol w="914400"/>
              </a:tblGrid>
              <a:tr h="2743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Marks (%)</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Grade</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Points</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Marks (%)</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Grade</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Points</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r>
              <a:tr h="274320">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85 &amp; above</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61 - 64</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r>
              <a:tr h="274320">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80 - 84</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3.70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58 - 60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75 - 79</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3.30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55 - 57</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r>
              <a:tr h="274320">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70 - 74</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50 - 54</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65 - 69</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2.70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Below 50 / Absent</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b="1" dirty="0">
                          <a:solidFill>
                            <a:srgbClr val="1F4D2E"/>
                          </a:solidFill>
                          <a:latin typeface="Calibri" pitchFamily="34" charset="0"/>
                          <a:ea typeface="Calibri" pitchFamily="34" charset="-122"/>
                          <a:cs typeface="Calibri" pitchFamily="34" charset="-120"/>
                        </a:rPr>
                        <a:t>F</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00" dirty="0">
                          <a:solidFill>
                            <a:srgbClr val="1A2620"/>
                          </a:solidFill>
                          <a:latin typeface="Calibri" pitchFamily="34" charset="0"/>
                          <a:ea typeface="Calibri" pitchFamily="34" charset="-122"/>
                          <a:cs typeface="Calibri" pitchFamily="34" charset="-120"/>
                        </a:rPr>
                        <a:t>0.00</a:t>
                      </a:r>
                      <a:endParaRPr lang="en-US" sz="1200" dirty="0">
                        <a:latin typeface="Calibri" charset="0"/>
                        <a:ea typeface="Calibri" charset="0"/>
                        <a:cs typeface="Calibri" charset="0"/>
                      </a:endParaRPr>
                    </a:p>
                  </a:txBody>
                  <a:tcPr marL="91440" marR="91440" marT="45720" marB="4572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r>
            </a:tbl>
          </a:graphicData>
        </a:graphic>
      </p:graphicFrame>
      <p:sp>
        <p:nvSpPr>
          <p:cNvPr id="6" name="Shape 3"/>
          <p:cNvSpPr/>
          <p:nvPr/>
        </p:nvSpPr>
        <p:spPr>
          <a:xfrm>
            <a:off x="502920" y="3200400"/>
            <a:ext cx="548640" cy="310896"/>
          </a:xfrm>
          <a:prstGeom prst="roundRect">
            <a:avLst>
              <a:gd name="adj" fmla="val 14706"/>
            </a:avLst>
          </a:prstGeom>
          <a:solidFill>
            <a:srgbClr val="9BBF8A"/>
          </a:solidFill>
          <a:ln w="12700">
            <a:solidFill>
              <a:srgbClr val="9BBF8A"/>
            </a:solidFill>
            <a:prstDash val="solid"/>
          </a:ln>
        </p:spPr>
      </p:sp>
      <p:sp>
        <p:nvSpPr>
          <p:cNvPr id="7" name="Text 4"/>
          <p:cNvSpPr txBox="1"/>
          <p:nvPr/>
        </p:nvSpPr>
        <p:spPr>
          <a:xfrm>
            <a:off x="502920" y="3200400"/>
            <a:ext cx="548640" cy="310896"/>
          </a:xfrm>
          <a:prstGeom prst="rect">
            <a:avLst/>
          </a:prstGeom>
          <a:noFill/>
          <a:ln/>
        </p:spPr>
        <p:txBody>
          <a:bodyPr wrap="square" lIns="0" tIns="0" rIns="0" bIns="0" rtlCol="0" anchor="ctr"/>
          <a:lstStyle/>
          <a:p>
            <a:pPr algn="ctr" indent="0" marL="0">
              <a:buNone/>
            </a:pPr>
            <a:r>
              <a:rPr lang="en-US" sz="1300" b="1" dirty="0">
                <a:solidFill>
                  <a:srgbClr val="1F4D2E"/>
                </a:solidFill>
                <a:latin typeface="Cambria" pitchFamily="34" charset="0"/>
                <a:ea typeface="Cambria" pitchFamily="34" charset="-122"/>
                <a:cs typeface="Cambria" pitchFamily="34" charset="-120"/>
              </a:rPr>
              <a:t>W</a:t>
            </a:r>
            <a:endParaRPr lang="en-US" sz="1300" dirty="0"/>
          </a:p>
        </p:txBody>
      </p:sp>
      <p:sp>
        <p:nvSpPr>
          <p:cNvPr id="8" name="Text 5"/>
          <p:cNvSpPr txBox="1"/>
          <p:nvPr/>
        </p:nvSpPr>
        <p:spPr>
          <a:xfrm>
            <a:off x="1188720" y="3200400"/>
            <a:ext cx="7452360" cy="310896"/>
          </a:xfrm>
          <a:prstGeom prst="rect">
            <a:avLst/>
          </a:prstGeom>
          <a:noFill/>
          <a:ln/>
        </p:spPr>
        <p:txBody>
          <a:bodyPr wrap="square" lIns="0" tIns="0" rIns="0" bIns="0" rtlCol="0" anchor="ctr"/>
          <a:lstStyle/>
          <a:p>
            <a:pPr indent="0" marL="0">
              <a:buNone/>
            </a:pPr>
            <a:r>
              <a:rPr lang="en-US" sz="1250" dirty="0">
                <a:solidFill>
                  <a:srgbClr val="1A2620"/>
                </a:solidFill>
                <a:latin typeface="Calibri" pitchFamily="34" charset="0"/>
                <a:ea typeface="Calibri" pitchFamily="34" charset="-122"/>
                <a:cs typeface="Calibri" pitchFamily="34" charset="-120"/>
              </a:rPr>
              <a:t>Withdrawal - not counted in GPA and not shown on the transcript.</a:t>
            </a:r>
            <a:endParaRPr lang="en-US" sz="1250" dirty="0"/>
          </a:p>
        </p:txBody>
      </p:sp>
      <p:sp>
        <p:nvSpPr>
          <p:cNvPr id="9" name="Shape 6"/>
          <p:cNvSpPr/>
          <p:nvPr/>
        </p:nvSpPr>
        <p:spPr>
          <a:xfrm>
            <a:off x="502920" y="3602736"/>
            <a:ext cx="548640" cy="310896"/>
          </a:xfrm>
          <a:prstGeom prst="roundRect">
            <a:avLst>
              <a:gd name="adj" fmla="val 14706"/>
            </a:avLst>
          </a:prstGeom>
          <a:solidFill>
            <a:srgbClr val="9BBF8A"/>
          </a:solidFill>
          <a:ln w="12700">
            <a:solidFill>
              <a:srgbClr val="9BBF8A"/>
            </a:solidFill>
            <a:prstDash val="solid"/>
          </a:ln>
        </p:spPr>
      </p:sp>
      <p:sp>
        <p:nvSpPr>
          <p:cNvPr id="10" name="Text 7"/>
          <p:cNvSpPr txBox="1"/>
          <p:nvPr/>
        </p:nvSpPr>
        <p:spPr>
          <a:xfrm>
            <a:off x="502920" y="3602736"/>
            <a:ext cx="548640" cy="310896"/>
          </a:xfrm>
          <a:prstGeom prst="rect">
            <a:avLst/>
          </a:prstGeom>
          <a:noFill/>
          <a:ln/>
        </p:spPr>
        <p:txBody>
          <a:bodyPr wrap="square" lIns="0" tIns="0" rIns="0" bIns="0" rtlCol="0" anchor="ctr"/>
          <a:lstStyle/>
          <a:p>
            <a:pPr algn="ctr" indent="0" marL="0">
              <a:buNone/>
            </a:pPr>
            <a:r>
              <a:rPr lang="en-US" sz="1300" b="1" dirty="0">
                <a:solidFill>
                  <a:srgbClr val="1F4D2E"/>
                </a:solidFill>
                <a:latin typeface="Cambria" pitchFamily="34" charset="0"/>
                <a:ea typeface="Cambria" pitchFamily="34" charset="-122"/>
                <a:cs typeface="Cambria" pitchFamily="34" charset="-120"/>
              </a:rPr>
              <a:t>FW</a:t>
            </a:r>
            <a:endParaRPr lang="en-US" sz="1300" dirty="0"/>
          </a:p>
        </p:txBody>
      </p:sp>
      <p:sp>
        <p:nvSpPr>
          <p:cNvPr id="11" name="Text 8"/>
          <p:cNvSpPr txBox="1"/>
          <p:nvPr/>
        </p:nvSpPr>
        <p:spPr>
          <a:xfrm>
            <a:off x="1188720" y="3602736"/>
            <a:ext cx="7452360" cy="310896"/>
          </a:xfrm>
          <a:prstGeom prst="rect">
            <a:avLst/>
          </a:prstGeom>
          <a:noFill/>
          <a:ln/>
        </p:spPr>
        <p:txBody>
          <a:bodyPr wrap="square" lIns="0" tIns="0" rIns="0" bIns="0" rtlCol="0" anchor="ctr"/>
          <a:lstStyle/>
          <a:p>
            <a:pPr indent="0" marL="0">
              <a:buNone/>
            </a:pPr>
            <a:r>
              <a:rPr lang="en-US" sz="1250" dirty="0">
                <a:solidFill>
                  <a:srgbClr val="1A2620"/>
                </a:solidFill>
                <a:latin typeface="Calibri" pitchFamily="34" charset="0"/>
                <a:ea typeface="Calibri" pitchFamily="34" charset="-122"/>
                <a:cs typeface="Calibri" pitchFamily="34" charset="-120"/>
              </a:rPr>
              <a:t>Forced Withdrawal - not counted in GPA, but shown on the transcript.</a:t>
            </a:r>
            <a:endParaRPr lang="en-US" sz="1250" dirty="0"/>
          </a:p>
        </p:txBody>
      </p:sp>
      <p:sp>
        <p:nvSpPr>
          <p:cNvPr id="12" name="Shape 9"/>
          <p:cNvSpPr/>
          <p:nvPr/>
        </p:nvSpPr>
        <p:spPr>
          <a:xfrm>
            <a:off x="502920" y="4005072"/>
            <a:ext cx="548640" cy="310896"/>
          </a:xfrm>
          <a:prstGeom prst="roundRect">
            <a:avLst>
              <a:gd name="adj" fmla="val 14706"/>
            </a:avLst>
          </a:prstGeom>
          <a:solidFill>
            <a:srgbClr val="9BBF8A"/>
          </a:solidFill>
          <a:ln w="12700">
            <a:solidFill>
              <a:srgbClr val="9BBF8A"/>
            </a:solidFill>
            <a:prstDash val="solid"/>
          </a:ln>
        </p:spPr>
      </p:sp>
      <p:sp>
        <p:nvSpPr>
          <p:cNvPr id="13" name="Text 10"/>
          <p:cNvSpPr txBox="1"/>
          <p:nvPr/>
        </p:nvSpPr>
        <p:spPr>
          <a:xfrm>
            <a:off x="502920" y="4005072"/>
            <a:ext cx="548640" cy="310896"/>
          </a:xfrm>
          <a:prstGeom prst="rect">
            <a:avLst/>
          </a:prstGeom>
          <a:noFill/>
          <a:ln/>
        </p:spPr>
        <p:txBody>
          <a:bodyPr wrap="square" lIns="0" tIns="0" rIns="0" bIns="0" rtlCol="0" anchor="ctr"/>
          <a:lstStyle/>
          <a:p>
            <a:pPr algn="ctr" indent="0" marL="0">
              <a:buNone/>
            </a:pPr>
            <a:r>
              <a:rPr lang="en-US" sz="1300" b="1" dirty="0">
                <a:solidFill>
                  <a:srgbClr val="1F4D2E"/>
                </a:solidFill>
                <a:latin typeface="Cambria" pitchFamily="34" charset="0"/>
                <a:ea typeface="Cambria" pitchFamily="34" charset="-122"/>
                <a:cs typeface="Cambria" pitchFamily="34" charset="-120"/>
              </a:rPr>
              <a:t>I</a:t>
            </a:r>
            <a:endParaRPr lang="en-US" sz="1300" dirty="0"/>
          </a:p>
        </p:txBody>
      </p:sp>
      <p:sp>
        <p:nvSpPr>
          <p:cNvPr id="14" name="Text 11"/>
          <p:cNvSpPr txBox="1"/>
          <p:nvPr/>
        </p:nvSpPr>
        <p:spPr>
          <a:xfrm>
            <a:off x="1188720" y="4005072"/>
            <a:ext cx="7452360" cy="310896"/>
          </a:xfrm>
          <a:prstGeom prst="rect">
            <a:avLst/>
          </a:prstGeom>
          <a:noFill/>
          <a:ln/>
        </p:spPr>
        <p:txBody>
          <a:bodyPr wrap="square" lIns="0" tIns="0" rIns="0" bIns="0" rtlCol="0" anchor="ctr"/>
          <a:lstStyle/>
          <a:p>
            <a:pPr indent="0" marL="0">
              <a:buNone/>
            </a:pPr>
            <a:r>
              <a:rPr lang="en-US" sz="1250" dirty="0">
                <a:solidFill>
                  <a:srgbClr val="1A2620"/>
                </a:solidFill>
                <a:latin typeface="Calibri" pitchFamily="34" charset="0"/>
                <a:ea typeface="Calibri" pitchFamily="34" charset="-122"/>
                <a:cs typeface="Calibri" pitchFamily="34" charset="-120"/>
              </a:rPr>
              <a:t>Incomplete - must be cleared by a special exam within one month, or 0 marks.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566928"/>
          </a:xfrm>
          <a:prstGeom prst="rect">
            <a:avLst/>
          </a:prstGeom>
          <a:noFill/>
          <a:ln/>
        </p:spPr>
        <p:txBody>
          <a:bodyPr wrap="square" lIns="0" tIns="0" rIns="0" bIns="0" rtlCol="0" anchor="ctr"/>
          <a:lstStyle/>
          <a:p>
            <a:pPr indent="0" marL="0">
              <a:buNone/>
            </a:pPr>
            <a:r>
              <a:rPr lang="en-US" sz="3200" b="1" dirty="0">
                <a:solidFill>
                  <a:srgbClr val="1F4D2E"/>
                </a:solidFill>
                <a:latin typeface="Cambria" pitchFamily="34" charset="0"/>
                <a:ea typeface="Cambria" pitchFamily="34" charset="-122"/>
                <a:cs typeface="Cambria" pitchFamily="34" charset="-120"/>
              </a:rPr>
              <a:t>Promotion and probation</a:t>
            </a:r>
            <a:endParaRPr lang="en-US" sz="3200" dirty="0"/>
          </a:p>
        </p:txBody>
      </p:sp>
      <p:sp>
        <p:nvSpPr>
          <p:cNvPr id="3" name="Text 1"/>
          <p:cNvSpPr txBox="1"/>
          <p:nvPr/>
        </p:nvSpPr>
        <p:spPr>
          <a:xfrm>
            <a:off x="502920" y="896112"/>
            <a:ext cx="8138160" cy="310896"/>
          </a:xfrm>
          <a:prstGeom prst="rect">
            <a:avLst/>
          </a:prstGeom>
          <a:noFill/>
          <a:ln/>
        </p:spPr>
        <p:txBody>
          <a:bodyPr wrap="square" lIns="0" tIns="0" rIns="0" bIns="0" rtlCol="0" anchor="ctr"/>
          <a:lstStyle/>
          <a:p>
            <a:pPr indent="0" marL="0">
              <a:buNone/>
            </a:pPr>
            <a:r>
              <a:rPr lang="en-US" sz="1400" i="1" dirty="0">
                <a:solidFill>
                  <a:srgbClr val="5F6F66"/>
                </a:solidFill>
                <a:latin typeface="Calibri" pitchFamily="34" charset="0"/>
                <a:ea typeface="Calibri" pitchFamily="34" charset="-122"/>
                <a:cs typeface="Calibri" pitchFamily="34" charset="-120"/>
              </a:rPr>
              <a:t>Your CGPA decides whether you move to the next semester</a:t>
            </a:r>
            <a:endParaRPr lang="en-US" sz="1400" dirty="0"/>
          </a:p>
        </p:txBody>
      </p:sp>
      <p:sp>
        <p:nvSpPr>
          <p:cNvPr id="4" name="Text 2"/>
          <p:cNvSpPr txBox="1"/>
          <p:nvPr/>
        </p:nvSpPr>
        <p:spPr>
          <a:xfrm>
            <a:off x="8092440" y="4626864"/>
            <a:ext cx="548640" cy="256032"/>
          </a:xfrm>
          <a:prstGeom prst="rect">
            <a:avLst/>
          </a:prstGeom>
          <a:noFill/>
          <a:ln/>
        </p:spPr>
        <p:txBody>
          <a:bodyPr wrap="square" lIns="0" tIns="0" rIns="0" bIns="0" rtlCol="0" anchor="ctr"/>
          <a:lstStyle/>
          <a:p>
            <a:pPr algn="r" indent="0" marL="0">
              <a:buNone/>
            </a:pPr>
            <a:r>
              <a:rPr lang="en-US" sz="1000" dirty="0">
                <a:solidFill>
                  <a:srgbClr val="5F6F66"/>
                </a:solidFill>
                <a:latin typeface="Calibri" pitchFamily="34" charset="0"/>
                <a:ea typeface="Calibri" pitchFamily="34" charset="-122"/>
                <a:cs typeface="Calibri" pitchFamily="34" charset="-120"/>
              </a:rPr>
              <a:t>14</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2103120"/>
                <a:gridCol w="2011680"/>
                <a:gridCol w="2011680"/>
                <a:gridCol w="2011680"/>
              </a:tblGrid>
              <a:tr h="384048">
                <a:tc>
                  <a:txBody>
                    <a:bodyPr/>
                    <a:lstStyle/>
                    <a:p>
                      <a:pPr algn="l" indent="0" marL="0">
                        <a:buNone/>
                      </a:pP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Promoted</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On probation</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Dropped</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1F4D2E"/>
                    </a:solidFill>
                  </a:tcPr>
                </a:tc>
              </a:tr>
              <a:tr h="384048">
                <a:tc>
                  <a:txBody>
                    <a:bodyPr/>
                    <a:lstStyle/>
                    <a:p>
                      <a:pPr algn="l" indent="0" marL="0">
                        <a:buNone/>
                      </a:pPr>
                      <a:r>
                        <a:rPr lang="en-US" sz="1250" b="1" dirty="0">
                          <a:solidFill>
                            <a:srgbClr val="1F4D2E"/>
                          </a:solidFill>
                          <a:latin typeface="Calibri" pitchFamily="34" charset="0"/>
                          <a:ea typeface="Calibri" pitchFamily="34" charset="-122"/>
                          <a:cs typeface="Calibri" pitchFamily="34" charset="-120"/>
                        </a:rPr>
                        <a:t>1st semester</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50" dirty="0">
                          <a:solidFill>
                            <a:srgbClr val="1A2620"/>
                          </a:solidFill>
                          <a:latin typeface="Calibri" pitchFamily="34" charset="0"/>
                          <a:ea typeface="Calibri" pitchFamily="34" charset="-122"/>
                          <a:cs typeface="Calibri" pitchFamily="34" charset="-120"/>
                        </a:rPr>
                        <a:t>GPA above 2.00</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50" dirty="0">
                          <a:solidFill>
                            <a:srgbClr val="1A2620"/>
                          </a:solidFill>
                          <a:latin typeface="Calibri" pitchFamily="34" charset="0"/>
                          <a:ea typeface="Calibri" pitchFamily="34" charset="-122"/>
                          <a:cs typeface="Calibri" pitchFamily="34" charset="-120"/>
                        </a:rPr>
                        <a:t>1.50 to below 2.00</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c>
                  <a:txBody>
                    <a:bodyPr/>
                    <a:lstStyle/>
                    <a:p>
                      <a:pPr algn="ctr" indent="0" marL="0">
                        <a:buNone/>
                      </a:pPr>
                      <a:r>
                        <a:rPr lang="en-US" sz="1250" dirty="0">
                          <a:solidFill>
                            <a:srgbClr val="1A2620"/>
                          </a:solidFill>
                          <a:latin typeface="Calibri" pitchFamily="34" charset="0"/>
                          <a:ea typeface="Calibri" pitchFamily="34" charset="-122"/>
                          <a:cs typeface="Calibri" pitchFamily="34" charset="-120"/>
                        </a:rPr>
                        <a:t>GPA below 1.50</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EDF3EA"/>
                    </a:solidFill>
                  </a:tcPr>
                </a:tc>
              </a:tr>
              <a:tr h="384048">
                <a:tc>
                  <a:txBody>
                    <a:bodyPr/>
                    <a:lstStyle/>
                    <a:p>
                      <a:pPr algn="l" indent="0" marL="0">
                        <a:buNone/>
                      </a:pPr>
                      <a:r>
                        <a:rPr lang="en-US" sz="1250" b="1" dirty="0">
                          <a:solidFill>
                            <a:srgbClr val="1F4D2E"/>
                          </a:solidFill>
                          <a:latin typeface="Calibri" pitchFamily="34" charset="0"/>
                          <a:ea typeface="Calibri" pitchFamily="34" charset="-122"/>
                          <a:cs typeface="Calibri" pitchFamily="34" charset="-120"/>
                        </a:rPr>
                        <a:t>2nd semester onwards</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620"/>
                          </a:solidFill>
                          <a:latin typeface="Calibri" pitchFamily="34" charset="0"/>
                          <a:ea typeface="Calibri" pitchFamily="34" charset="-122"/>
                          <a:cs typeface="Calibri" pitchFamily="34" charset="-120"/>
                        </a:rPr>
                        <a:t>CGPA above 2.00</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620"/>
                          </a:solidFill>
                          <a:latin typeface="Calibri" pitchFamily="34" charset="0"/>
                          <a:ea typeface="Calibri" pitchFamily="34" charset="-122"/>
                          <a:cs typeface="Calibri" pitchFamily="34" charset="-120"/>
                        </a:rPr>
                        <a:t>1.70 to below 2.00</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620"/>
                          </a:solidFill>
                          <a:latin typeface="Calibri" pitchFamily="34" charset="0"/>
                          <a:ea typeface="Calibri" pitchFamily="34" charset="-122"/>
                          <a:cs typeface="Calibri" pitchFamily="34" charset="-120"/>
                        </a:rPr>
                        <a:t>CGPA below 1.70</a:t>
                      </a:r>
                      <a:endParaRPr lang="en-US" sz="1250" dirty="0">
                        <a:latin typeface="Calibri" charset="0"/>
                        <a:ea typeface="Calibri" charset="0"/>
                        <a:cs typeface="Calibri" charset="0"/>
                      </a:endParaRPr>
                    </a:p>
                  </a:txBody>
                  <a:tcPr marL="109728" marR="109728" marT="0" marB="0" anchor="ctr">
                    <a:lnL w="12700" cap="flat" cmpd="sng" algn="ctr">
                      <a:solidFill>
                        <a:srgbClr val="DCE5DA"/>
                      </a:solidFill>
                      <a:prstDash val="solid"/>
                      <a:round/>
                      <a:headEnd type="none" w="med" len="med"/>
                      <a:tailEnd type="none" w="med" len="med"/>
                    </a:lnL>
                    <a:lnR w="12700" cap="flat" cmpd="sng" algn="ctr">
                      <a:solidFill>
                        <a:srgbClr val="DCE5DA"/>
                      </a:solidFill>
                      <a:prstDash val="solid"/>
                      <a:round/>
                      <a:headEnd type="none" w="med" len="med"/>
                      <a:tailEnd type="none" w="med" len="med"/>
                    </a:lnR>
                    <a:lnT w="12700" cap="flat" cmpd="sng" algn="ctr">
                      <a:solidFill>
                        <a:srgbClr val="DCE5DA"/>
                      </a:solidFill>
                      <a:prstDash val="solid"/>
                      <a:round/>
                      <a:headEnd type="none" w="med" len="med"/>
                      <a:tailEnd type="none" w="med" len="med"/>
                    </a:lnT>
                    <a:lnB w="12700" cap="flat" cmpd="sng" algn="ctr">
                      <a:solidFill>
                        <a:srgbClr val="DCE5DA"/>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2926080"/>
            <a:ext cx="2529840" cy="1417320"/>
          </a:xfrm>
          <a:prstGeom prst="roundRect">
            <a:avLst>
              <a:gd name="adj" fmla="val 5806"/>
            </a:avLst>
          </a:prstGeom>
          <a:solidFill>
            <a:srgbClr val="1F4D2E"/>
          </a:solidFill>
          <a:ln w="12700">
            <a:solidFill>
              <a:srgbClr val="1F4D2E"/>
            </a:solidFill>
            <a:prstDash val="solid"/>
          </a:ln>
          <a:effectLst>
            <a:outerShdw sx="100000" sy="100000" kx="0" ky="0" algn="bl" rotWithShape="0" blurRad="101600" dist="25400" dir="5400000">
              <a:srgbClr val="1F4D2E">
                <a:alpha val="13000"/>
              </a:srgbClr>
            </a:outerShdw>
          </a:effectLst>
        </p:spPr>
      </p:sp>
      <p:sp>
        <p:nvSpPr>
          <p:cNvPr id="7" name="Text 4"/>
          <p:cNvSpPr txBox="1"/>
          <p:nvPr/>
        </p:nvSpPr>
        <p:spPr>
          <a:xfrm>
            <a:off x="640080" y="3063240"/>
            <a:ext cx="2255520" cy="411480"/>
          </a:xfrm>
          <a:prstGeom prst="rect">
            <a:avLst/>
          </a:prstGeom>
          <a:noFill/>
          <a:ln/>
        </p:spPr>
        <p:txBody>
          <a:bodyPr wrap="square" lIns="0" tIns="0" rIns="0" bIns="0" rtlCol="0" anchor="ctr"/>
          <a:lstStyle/>
          <a:p>
            <a:pPr algn="ctr" indent="0" marL="0">
              <a:buNone/>
            </a:pPr>
            <a:r>
              <a:rPr lang="en-US" sz="2800" b="1" dirty="0">
                <a:solidFill>
                  <a:srgbClr val="E0A526"/>
                </a:solidFill>
                <a:latin typeface="Cambria" pitchFamily="34" charset="0"/>
                <a:ea typeface="Cambria" pitchFamily="34" charset="-122"/>
                <a:cs typeface="Cambria" pitchFamily="34" charset="-120"/>
              </a:rPr>
              <a:t>2.00</a:t>
            </a:r>
            <a:endParaRPr lang="en-US" sz="2800" dirty="0"/>
          </a:p>
        </p:txBody>
      </p:sp>
      <p:sp>
        <p:nvSpPr>
          <p:cNvPr id="8" name="Text 5"/>
          <p:cNvSpPr txBox="1"/>
          <p:nvPr/>
        </p:nvSpPr>
        <p:spPr>
          <a:xfrm>
            <a:off x="685800" y="3511296"/>
            <a:ext cx="2164080" cy="749808"/>
          </a:xfrm>
          <a:prstGeom prst="rect">
            <a:avLst/>
          </a:prstGeom>
          <a:noFill/>
          <a:ln/>
        </p:spPr>
        <p:txBody>
          <a:bodyPr wrap="square" lIns="0" tIns="0" rIns="0" bIns="0" rtlCol="0" anchor="t"/>
          <a:lstStyle/>
          <a:p>
            <a:pPr algn="ctr" indent="0" marL="0">
              <a:lnSpc>
                <a:spcPct val="112000"/>
              </a:lnSpc>
              <a:buNone/>
            </a:pPr>
            <a:r>
              <a:rPr lang="en-US" sz="1150" dirty="0">
                <a:solidFill>
                  <a:srgbClr val="FFFFFF"/>
                </a:solidFill>
                <a:latin typeface="Calibri" pitchFamily="34" charset="0"/>
                <a:ea typeface="Calibri" pitchFamily="34" charset="-122"/>
                <a:cs typeface="Calibri" pitchFamily="34" charset="-120"/>
              </a:rPr>
              <a:t>The minimum CGPA needed for your degree.</a:t>
            </a:r>
            <a:endParaRPr lang="en-US" sz="1150" dirty="0"/>
          </a:p>
        </p:txBody>
      </p:sp>
      <p:sp>
        <p:nvSpPr>
          <p:cNvPr id="9" name="Shape 6"/>
          <p:cNvSpPr/>
          <p:nvPr/>
        </p:nvSpPr>
        <p:spPr>
          <a:xfrm>
            <a:off x="3307080" y="2926080"/>
            <a:ext cx="2529840" cy="1417320"/>
          </a:xfrm>
          <a:prstGeom prst="roundRect">
            <a:avLst>
              <a:gd name="adj" fmla="val 5806"/>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0" name="Text 7"/>
          <p:cNvSpPr txBox="1"/>
          <p:nvPr/>
        </p:nvSpPr>
        <p:spPr>
          <a:xfrm>
            <a:off x="3444240" y="3063240"/>
            <a:ext cx="2255520" cy="411480"/>
          </a:xfrm>
          <a:prstGeom prst="rect">
            <a:avLst/>
          </a:prstGeom>
          <a:noFill/>
          <a:ln/>
        </p:spPr>
        <p:txBody>
          <a:bodyPr wrap="square" lIns="0" tIns="0" rIns="0" bIns="0" rtlCol="0" anchor="ctr"/>
          <a:lstStyle/>
          <a:p>
            <a:pPr algn="ctr" indent="0" marL="0">
              <a:buNone/>
            </a:pPr>
            <a:r>
              <a:rPr lang="en-US" sz="2800" b="1" dirty="0">
                <a:solidFill>
                  <a:srgbClr val="1F4D2E"/>
                </a:solidFill>
                <a:latin typeface="Cambria" pitchFamily="34" charset="0"/>
                <a:ea typeface="Cambria" pitchFamily="34" charset="-122"/>
                <a:cs typeface="Cambria" pitchFamily="34" charset="-120"/>
              </a:rPr>
              <a:t>2</a:t>
            </a:r>
            <a:endParaRPr lang="en-US" sz="2800" dirty="0"/>
          </a:p>
        </p:txBody>
      </p:sp>
      <p:sp>
        <p:nvSpPr>
          <p:cNvPr id="11" name="Text 8"/>
          <p:cNvSpPr txBox="1"/>
          <p:nvPr/>
        </p:nvSpPr>
        <p:spPr>
          <a:xfrm>
            <a:off x="3489960" y="3511296"/>
            <a:ext cx="2164080" cy="749808"/>
          </a:xfrm>
          <a:prstGeom prst="rect">
            <a:avLst/>
          </a:prstGeom>
          <a:noFill/>
          <a:ln/>
        </p:spPr>
        <p:txBody>
          <a:bodyPr wrap="square" lIns="0" tIns="0" rIns="0" bIns="0" rtlCol="0" anchor="t"/>
          <a:lstStyle/>
          <a:p>
            <a:pPr algn="ctr" indent="0" marL="0">
              <a:lnSpc>
                <a:spcPct val="112000"/>
              </a:lnSpc>
              <a:buNone/>
            </a:pPr>
            <a:r>
              <a:rPr lang="en-US" sz="1150" dirty="0">
                <a:solidFill>
                  <a:srgbClr val="5F6F66"/>
                </a:solidFill>
                <a:latin typeface="Calibri" pitchFamily="34" charset="0"/>
                <a:ea typeface="Calibri" pitchFamily="34" charset="-122"/>
                <a:cs typeface="Calibri" pitchFamily="34" charset="-120"/>
              </a:rPr>
              <a:t>Probation is allowed only twice in the whole programme.</a:t>
            </a:r>
            <a:endParaRPr lang="en-US" sz="1150" dirty="0"/>
          </a:p>
        </p:txBody>
      </p:sp>
      <p:sp>
        <p:nvSpPr>
          <p:cNvPr id="12" name="Shape 9"/>
          <p:cNvSpPr/>
          <p:nvPr/>
        </p:nvSpPr>
        <p:spPr>
          <a:xfrm>
            <a:off x="6111240" y="2926080"/>
            <a:ext cx="2529840" cy="1417320"/>
          </a:xfrm>
          <a:prstGeom prst="roundRect">
            <a:avLst>
              <a:gd name="adj" fmla="val 5806"/>
            </a:avLst>
          </a:prstGeom>
          <a:solidFill>
            <a:srgbClr val="EDF3EA"/>
          </a:solidFill>
          <a:ln w="12700">
            <a:solidFill>
              <a:srgbClr val="EDF3EA"/>
            </a:solidFill>
            <a:prstDash val="solid"/>
          </a:ln>
          <a:effectLst>
            <a:outerShdw sx="100000" sy="100000" kx="0" ky="0" algn="bl" rotWithShape="0" blurRad="101600" dist="25400" dir="5400000">
              <a:srgbClr val="1F4D2E">
                <a:alpha val="13000"/>
              </a:srgbClr>
            </a:outerShdw>
          </a:effectLst>
        </p:spPr>
      </p:sp>
      <p:sp>
        <p:nvSpPr>
          <p:cNvPr id="13" name="Text 10"/>
          <p:cNvSpPr txBox="1"/>
          <p:nvPr/>
        </p:nvSpPr>
        <p:spPr>
          <a:xfrm>
            <a:off x="6248400" y="3063240"/>
            <a:ext cx="2255520" cy="411480"/>
          </a:xfrm>
          <a:prstGeom prst="rect">
            <a:avLst/>
          </a:prstGeom>
          <a:noFill/>
          <a:ln/>
        </p:spPr>
        <p:txBody>
          <a:bodyPr wrap="square" lIns="0" tIns="0" rIns="0" bIns="0" rtlCol="0" anchor="ctr"/>
          <a:lstStyle/>
          <a:p>
            <a:pPr algn="ctr" indent="0" marL="0">
              <a:buNone/>
            </a:pPr>
            <a:r>
              <a:rPr lang="en-US" sz="2000" b="1" dirty="0">
                <a:solidFill>
                  <a:srgbClr val="1F4D2E"/>
                </a:solidFill>
                <a:latin typeface="Cambria" pitchFamily="34" charset="0"/>
                <a:ea typeface="Cambria" pitchFamily="34" charset="-122"/>
                <a:cs typeface="Cambria" pitchFamily="34" charset="-120"/>
              </a:rPr>
              <a:t>Repeat</a:t>
            </a:r>
            <a:endParaRPr lang="en-US" sz="2000" dirty="0"/>
          </a:p>
        </p:txBody>
      </p:sp>
      <p:sp>
        <p:nvSpPr>
          <p:cNvPr id="14" name="Text 11"/>
          <p:cNvSpPr txBox="1"/>
          <p:nvPr/>
        </p:nvSpPr>
        <p:spPr>
          <a:xfrm>
            <a:off x="6294120" y="3511296"/>
            <a:ext cx="2164080" cy="749808"/>
          </a:xfrm>
          <a:prstGeom prst="rect">
            <a:avLst/>
          </a:prstGeom>
          <a:noFill/>
          <a:ln/>
        </p:spPr>
        <p:txBody>
          <a:bodyPr wrap="square" lIns="0" tIns="0" rIns="0" bIns="0" rtlCol="0" anchor="t"/>
          <a:lstStyle/>
          <a:p>
            <a:pPr algn="ctr" indent="0" marL="0">
              <a:lnSpc>
                <a:spcPct val="112000"/>
              </a:lnSpc>
              <a:buNone/>
            </a:pPr>
            <a:r>
              <a:rPr lang="en-US" sz="1150" dirty="0">
                <a:solidFill>
                  <a:srgbClr val="5F6F66"/>
                </a:solidFill>
                <a:latin typeface="Calibri" pitchFamily="34" charset="0"/>
                <a:ea typeface="Calibri" pitchFamily="34" charset="-122"/>
                <a:cs typeface="Calibri" pitchFamily="34" charset="-120"/>
              </a:rPr>
              <a:t>'F' courses must be repeated, and 'D' courses too if your CGPA is low. The better grade counts.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4D2E"/>
        </a:solidFill>
      </p:bgPr>
    </p:bg>
    <p:spTree>
      <p:nvGrpSpPr>
        <p:cNvPr id="1" name=""/>
        <p:cNvGrpSpPr/>
        <p:nvPr/>
      </p:nvGrpSpPr>
      <p:grpSpPr>
        <a:xfrm>
          <a:off x="0" y="0"/>
          <a:ext cx="0" cy="0"/>
          <a:chOff x="0" y="0"/>
          <a:chExt cx="0" cy="0"/>
        </a:xfrm>
      </p:grpSpPr>
      <p:sp>
        <p:nvSpPr>
          <p:cNvPr id="2" name="Text 0"/>
          <p:cNvSpPr txBox="1"/>
          <p:nvPr/>
        </p:nvSpPr>
        <p:spPr>
          <a:xfrm>
            <a:off x="502920" y="548640"/>
            <a:ext cx="8138160" cy="274320"/>
          </a:xfrm>
          <a:prstGeom prst="rect">
            <a:avLst/>
          </a:prstGeom>
          <a:noFill/>
          <a:ln/>
        </p:spPr>
        <p:txBody>
          <a:bodyPr wrap="square" lIns="0" tIns="0" rIns="0" bIns="0" rtlCol="0" anchor="ctr"/>
          <a:lstStyle/>
          <a:p>
            <a:pPr indent="0" marL="0">
              <a:buNone/>
            </a:pPr>
            <a:r>
              <a:rPr lang="en-US" sz="1300" b="1" spc="300" kern="0" dirty="0">
                <a:solidFill>
                  <a:srgbClr val="E0A526"/>
                </a:solidFill>
                <a:latin typeface="Calibri" pitchFamily="34" charset="0"/>
                <a:ea typeface="Calibri" pitchFamily="34" charset="-122"/>
                <a:cs typeface="Calibri" pitchFamily="34" charset="-120"/>
              </a:rPr>
              <a:t>REMEMBER THIS</a:t>
            </a:r>
            <a:endParaRPr lang="en-US" sz="1300" dirty="0"/>
          </a:p>
        </p:txBody>
      </p:sp>
      <p:sp>
        <p:nvSpPr>
          <p:cNvPr id="3" name="Text 1"/>
          <p:cNvSpPr txBox="1"/>
          <p:nvPr/>
        </p:nvSpPr>
        <p:spPr>
          <a:xfrm>
            <a:off x="502920" y="868680"/>
            <a:ext cx="813816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things to take away</a:t>
            </a:r>
            <a:endParaRPr lang="en-US" sz="3400" dirty="0"/>
          </a:p>
        </p:txBody>
      </p:sp>
      <p:sp>
        <p:nvSpPr>
          <p:cNvPr id="4" name="Shape 2"/>
          <p:cNvSpPr/>
          <p:nvPr/>
        </p:nvSpPr>
        <p:spPr>
          <a:xfrm>
            <a:off x="502920" y="1627632"/>
            <a:ext cx="384048" cy="384048"/>
          </a:xfrm>
          <a:prstGeom prst="ellipse">
            <a:avLst/>
          </a:prstGeom>
          <a:solidFill>
            <a:srgbClr val="E0A526"/>
          </a:solidFill>
          <a:ln w="12700">
            <a:solidFill>
              <a:srgbClr val="E0A526"/>
            </a:solidFill>
            <a:prstDash val="solid"/>
          </a:ln>
        </p:spPr>
      </p:sp>
      <p:sp>
        <p:nvSpPr>
          <p:cNvPr id="5" name="Text 3"/>
          <p:cNvSpPr txBox="1"/>
          <p:nvPr/>
        </p:nvSpPr>
        <p:spPr>
          <a:xfrm>
            <a:off x="502920" y="1627632"/>
            <a:ext cx="384048" cy="384048"/>
          </a:xfrm>
          <a:prstGeom prst="rect">
            <a:avLst/>
          </a:prstGeom>
          <a:noFill/>
          <a:ln/>
        </p:spPr>
        <p:txBody>
          <a:bodyPr wrap="square" lIns="0" tIns="0" rIns="0" bIns="0" rtlCol="0" anchor="ctr"/>
          <a:lstStyle/>
          <a:p>
            <a:pPr algn="ctr" indent="0" marL="0">
              <a:buNone/>
            </a:pPr>
            <a:r>
              <a:rPr lang="en-US" sz="1500" b="1" dirty="0">
                <a:solidFill>
                  <a:srgbClr val="1F4D2E"/>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069848" y="1618488"/>
            <a:ext cx="7571232" cy="41148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Attend at least 75% of every course - attendance is checked subject by subject.</a:t>
            </a:r>
            <a:endParaRPr lang="en-US" sz="1450" dirty="0"/>
          </a:p>
        </p:txBody>
      </p:sp>
      <p:sp>
        <p:nvSpPr>
          <p:cNvPr id="7" name="Shape 5"/>
          <p:cNvSpPr/>
          <p:nvPr/>
        </p:nvSpPr>
        <p:spPr>
          <a:xfrm>
            <a:off x="502920" y="2194560"/>
            <a:ext cx="384048" cy="384048"/>
          </a:xfrm>
          <a:prstGeom prst="ellipse">
            <a:avLst/>
          </a:prstGeom>
          <a:solidFill>
            <a:srgbClr val="E0A526"/>
          </a:solidFill>
          <a:ln w="12700">
            <a:solidFill>
              <a:srgbClr val="E0A526"/>
            </a:solidFill>
            <a:prstDash val="solid"/>
          </a:ln>
        </p:spPr>
      </p:sp>
      <p:sp>
        <p:nvSpPr>
          <p:cNvPr id="8" name="Text 6"/>
          <p:cNvSpPr txBox="1"/>
          <p:nvPr/>
        </p:nvSpPr>
        <p:spPr>
          <a:xfrm>
            <a:off x="502920" y="2194560"/>
            <a:ext cx="384048" cy="384048"/>
          </a:xfrm>
          <a:prstGeom prst="rect">
            <a:avLst/>
          </a:prstGeom>
          <a:noFill/>
          <a:ln/>
        </p:spPr>
        <p:txBody>
          <a:bodyPr wrap="square" lIns="0" tIns="0" rIns="0" bIns="0" rtlCol="0" anchor="ctr"/>
          <a:lstStyle/>
          <a:p>
            <a:pPr algn="ctr" indent="0" marL="0">
              <a:buNone/>
            </a:pPr>
            <a:r>
              <a:rPr lang="en-US" sz="1500" b="1" dirty="0">
                <a:solidFill>
                  <a:srgbClr val="1F4D2E"/>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069848" y="2185416"/>
            <a:ext cx="7571232" cy="41148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Too many absents means an FW grade and repeating the course with juniors.</a:t>
            </a:r>
            <a:endParaRPr lang="en-US" sz="1450" dirty="0"/>
          </a:p>
        </p:txBody>
      </p:sp>
      <p:sp>
        <p:nvSpPr>
          <p:cNvPr id="10" name="Shape 8"/>
          <p:cNvSpPr/>
          <p:nvPr/>
        </p:nvSpPr>
        <p:spPr>
          <a:xfrm>
            <a:off x="502920" y="2761488"/>
            <a:ext cx="384048" cy="384048"/>
          </a:xfrm>
          <a:prstGeom prst="ellipse">
            <a:avLst/>
          </a:prstGeom>
          <a:solidFill>
            <a:srgbClr val="E0A526"/>
          </a:solidFill>
          <a:ln w="12700">
            <a:solidFill>
              <a:srgbClr val="E0A526"/>
            </a:solidFill>
            <a:prstDash val="solid"/>
          </a:ln>
        </p:spPr>
      </p:sp>
      <p:sp>
        <p:nvSpPr>
          <p:cNvPr id="11" name="Text 9"/>
          <p:cNvSpPr txBox="1"/>
          <p:nvPr/>
        </p:nvSpPr>
        <p:spPr>
          <a:xfrm>
            <a:off x="502920" y="2761488"/>
            <a:ext cx="384048" cy="384048"/>
          </a:xfrm>
          <a:prstGeom prst="rect">
            <a:avLst/>
          </a:prstGeom>
          <a:noFill/>
          <a:ln/>
        </p:spPr>
        <p:txBody>
          <a:bodyPr wrap="square" lIns="0" tIns="0" rIns="0" bIns="0" rtlCol="0" anchor="ctr"/>
          <a:lstStyle/>
          <a:p>
            <a:pPr algn="ctr" indent="0" marL="0">
              <a:buNone/>
            </a:pPr>
            <a:r>
              <a:rPr lang="en-US" sz="1500" b="1" dirty="0">
                <a:solidFill>
                  <a:srgbClr val="1F4D2E"/>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069848" y="2752344"/>
            <a:ext cx="7571232" cy="41148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Marks are 25% sessional, 35% mid term and 40% final term.</a:t>
            </a:r>
            <a:endParaRPr lang="en-US" sz="1450" dirty="0"/>
          </a:p>
        </p:txBody>
      </p:sp>
      <p:sp>
        <p:nvSpPr>
          <p:cNvPr id="13" name="Shape 11"/>
          <p:cNvSpPr/>
          <p:nvPr/>
        </p:nvSpPr>
        <p:spPr>
          <a:xfrm>
            <a:off x="502920" y="3328416"/>
            <a:ext cx="384048" cy="384048"/>
          </a:xfrm>
          <a:prstGeom prst="ellipse">
            <a:avLst/>
          </a:prstGeom>
          <a:solidFill>
            <a:srgbClr val="E0A526"/>
          </a:solidFill>
          <a:ln w="12700">
            <a:solidFill>
              <a:srgbClr val="E0A526"/>
            </a:solidFill>
            <a:prstDash val="solid"/>
          </a:ln>
        </p:spPr>
      </p:sp>
      <p:sp>
        <p:nvSpPr>
          <p:cNvPr id="14" name="Text 12"/>
          <p:cNvSpPr txBox="1"/>
          <p:nvPr/>
        </p:nvSpPr>
        <p:spPr>
          <a:xfrm>
            <a:off x="502920" y="3328416"/>
            <a:ext cx="384048" cy="384048"/>
          </a:xfrm>
          <a:prstGeom prst="rect">
            <a:avLst/>
          </a:prstGeom>
          <a:noFill/>
          <a:ln/>
        </p:spPr>
        <p:txBody>
          <a:bodyPr wrap="square" lIns="0" tIns="0" rIns="0" bIns="0" rtlCol="0" anchor="ctr"/>
          <a:lstStyle/>
          <a:p>
            <a:pPr algn="ctr" indent="0" marL="0">
              <a:buNone/>
            </a:pPr>
            <a:r>
              <a:rPr lang="en-US" sz="1500" b="1" dirty="0">
                <a:solidFill>
                  <a:srgbClr val="1F4D2E"/>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069848" y="3319272"/>
            <a:ext cx="7571232" cy="41148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You need 50% (grade D) to pass a course, and 2.00 CGPA for your degree.</a:t>
            </a:r>
            <a:endParaRPr lang="en-US" sz="1450" dirty="0"/>
          </a:p>
        </p:txBody>
      </p:sp>
      <p:sp>
        <p:nvSpPr>
          <p:cNvPr id="16" name="Shape 14"/>
          <p:cNvSpPr/>
          <p:nvPr/>
        </p:nvSpPr>
        <p:spPr>
          <a:xfrm>
            <a:off x="502920" y="3895344"/>
            <a:ext cx="384048" cy="384048"/>
          </a:xfrm>
          <a:prstGeom prst="ellipse">
            <a:avLst/>
          </a:prstGeom>
          <a:solidFill>
            <a:srgbClr val="E0A526"/>
          </a:solidFill>
          <a:ln w="12700">
            <a:solidFill>
              <a:srgbClr val="E0A526"/>
            </a:solidFill>
            <a:prstDash val="solid"/>
          </a:ln>
        </p:spPr>
      </p:sp>
      <p:sp>
        <p:nvSpPr>
          <p:cNvPr id="17" name="Text 15"/>
          <p:cNvSpPr txBox="1"/>
          <p:nvPr/>
        </p:nvSpPr>
        <p:spPr>
          <a:xfrm>
            <a:off x="502920" y="3895344"/>
            <a:ext cx="384048" cy="384048"/>
          </a:xfrm>
          <a:prstGeom prst="rect">
            <a:avLst/>
          </a:prstGeom>
          <a:noFill/>
          <a:ln/>
        </p:spPr>
        <p:txBody>
          <a:bodyPr wrap="square" lIns="0" tIns="0" rIns="0" bIns="0" rtlCol="0" anchor="ctr"/>
          <a:lstStyle/>
          <a:p>
            <a:pPr algn="ctr" indent="0" marL="0">
              <a:buNone/>
            </a:pPr>
            <a:r>
              <a:rPr lang="en-US" sz="1500" b="1" dirty="0">
                <a:solidFill>
                  <a:srgbClr val="1F4D2E"/>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069848" y="3886200"/>
            <a:ext cx="7571232" cy="41148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Check the notice board every month for your attendance and results.</a:t>
            </a:r>
            <a:endParaRPr lang="en-US" sz="1450" dirty="0"/>
          </a:p>
        </p:txBody>
      </p:sp>
      <p:sp>
        <p:nvSpPr>
          <p:cNvPr id="19" name="Text 17"/>
          <p:cNvSpPr txBox="1"/>
          <p:nvPr/>
        </p:nvSpPr>
        <p:spPr>
          <a:xfrm>
            <a:off x="502920" y="4572000"/>
            <a:ext cx="8138160" cy="274320"/>
          </a:xfrm>
          <a:prstGeom prst="rect">
            <a:avLst/>
          </a:prstGeom>
          <a:noFill/>
          <a:ln/>
        </p:spPr>
        <p:txBody>
          <a:bodyPr wrap="square" lIns="0" tIns="0" rIns="0" bIns="0" rtlCol="0" anchor="ctr"/>
          <a:lstStyle/>
          <a:p>
            <a:pPr indent="0" marL="0">
              <a:buNone/>
            </a:pPr>
            <a:r>
              <a:rPr lang="en-US" sz="1000" dirty="0">
                <a:solidFill>
                  <a:srgbClr val="9BBF8A"/>
                </a:solidFill>
                <a:latin typeface="Calibri" pitchFamily="34" charset="0"/>
                <a:ea typeface="Calibri" pitchFamily="34" charset="-122"/>
                <a:cs typeface="Calibri" pitchFamily="34" charset="-120"/>
              </a:rPr>
              <a:t>Source: University of the Punjab, Semester Rules and Regulations for Undergraduate Studies (Fall 2023)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Attendance and Evaluation Rules</dc:title>
  <dc:subject>PptxGenJS Presentation</dc:subject>
  <dc:creator>University of the Punjab - Semester Rules</dc:creator>
  <cp:lastModifiedBy>University of the Punjab - Semester Rules</cp:lastModifiedBy>
  <cp:revision>1</cp:revision>
  <dcterms:created xsi:type="dcterms:W3CDTF">2026-09-02T14:02:27Z</dcterms:created>
  <dcterms:modified xsi:type="dcterms:W3CDTF">2026-09-02T14:02:27Z</dcterms:modified>
</cp:coreProperties>
</file>